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Fira Code SemiBold" panose="020B0604020202020204" charset="0"/>
      <p:regular r:id="rId21"/>
      <p:bold r:id="rId22"/>
    </p:embeddedFont>
    <p:embeddedFont>
      <p:font typeface="Inter" panose="020B0604020202020204" charset="0"/>
      <p:bold r:id="rId23"/>
      <p:boldItalic r:id="rId24"/>
    </p:embeddedFont>
    <p:embeddedFont>
      <p:font typeface="Inter ExtraBold" panose="020B0604020202020204" charset="0"/>
      <p:bold r:id="rId25"/>
      <p:boldItalic r:id="rId26"/>
    </p:embeddedFont>
    <p:embeddedFont>
      <p:font typeface="Inter Medium" panose="020B0604020202020204" charset="0"/>
      <p:regular r:id="rId27"/>
      <p:bold r:id="rId28"/>
      <p:italic r:id="rId29"/>
      <p:boldItalic r:id="rId30"/>
    </p:embeddedFont>
    <p:embeddedFont>
      <p:font typeface="Inter SemiBold" panose="020B060402020202020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5" roundtripDataSignature="AMtx7mjjAEfkVzr+atgZ9p4+cfZWPup6y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93E14B0-F56B-4F5A-AFEA-78C6A365C949}">
  <a:tblStyle styleId="{893E14B0-F56B-4F5A-AFEA-78C6A365C94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9" Type="http://schemas.openxmlformats.org/officeDocument/2006/relationships/tableStyles" Target="tableStyles.xml"/><Relationship Id="rId21" Type="http://schemas.openxmlformats.org/officeDocument/2006/relationships/font" Target="fonts/font5.fntdata"/><Relationship Id="rId34" Type="http://schemas.openxmlformats.org/officeDocument/2006/relationships/font" Target="fonts/font1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font" Target="fonts/font1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" name="Google Shape;83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7" name="Google Shape;187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h2f74e1468e701ad9_0_7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h2f74e1468e701ad9_0_7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2" name="Google Shape;262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7" name="Google Shape;287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0" name="Google Shape;320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5" name="Google Shape;345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h1fb37cf9ca51ebd0_21_0)">
  <p:cSld name="Generated (h1fb37cf9ca51ebd0_21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0" y="0"/>
            <a:ext cx="12191695" cy="32000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600000" y="6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MACHINE LEARNING · UNIVERSIDAD EIA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600000" y="1300000"/>
            <a:ext cx="120000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Predicción de retrasos en vuelos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comerciales de EE. UU.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600000" y="3350000"/>
            <a:ext cx="490468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Horizonte de 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predicción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: hora 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programada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de salida (pre-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vuelo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dirty="0"/>
          </a:p>
        </p:txBody>
      </p:sp>
      <p:sp>
        <p:nvSpPr>
          <p:cNvPr id="92" name="Google Shape;92;p1"/>
          <p:cNvSpPr txBox="1"/>
          <p:nvPr/>
        </p:nvSpPr>
        <p:spPr>
          <a:xfrm>
            <a:off x="600000" y="47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AUTORES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600000" y="5100000"/>
            <a:ext cx="120000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Sebastián Olaya Pérez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Carlos Daniel Bedoya Moreno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Santiago Felipe Espinel León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Julián Alzate Aristizábal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600000" y="67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Rama de entrega: entrega-final · Repositorio: github.com/sebastia-olaya/Proyecto-final-Machine-Learning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 · ¿Hace falta Machine Learning?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600000" y="1100000"/>
            <a:ext cx="11415216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CO" dirty="0"/>
              <a:t>Un retraso cuesta combustible, tripulación, puertas y conexiones perdidas, y el US DOT publica rankings de puntualidad: tiene costo económico y reputacional. Con la hora de salida la aerolínea reasigna puertas y el pasajero reorganiza su conexión, así que la predicción sirve para actuar.</a:t>
            </a:r>
          </a:p>
          <a:p>
            <a:br>
              <a:rPr lang="es-CO" dirty="0"/>
            </a:br>
            <a:endParaRPr lang="es-CO" dirty="0"/>
          </a:p>
        </p:txBody>
      </p:sp>
      <p:sp>
        <p:nvSpPr>
          <p:cNvPr id="103" name="Google Shape;103;p2"/>
          <p:cNvSpPr txBox="1"/>
          <p:nvPr/>
        </p:nvSpPr>
        <p:spPr>
          <a:xfrm>
            <a:off x="600000" y="1800000"/>
            <a:ext cx="58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Punto de </a:t>
            </a:r>
            <a:r>
              <a:rPr lang="en-US" sz="14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comparación</a:t>
            </a: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4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regla</a:t>
            </a: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 a mano)</a:t>
            </a:r>
            <a:endParaRPr dirty="0"/>
          </a:p>
        </p:txBody>
      </p:sp>
      <p:sp>
        <p:nvSpPr>
          <p:cNvPr id="104" name="Google Shape;104;p2"/>
          <p:cNvSpPr txBox="1"/>
          <p:nvPr/>
        </p:nvSpPr>
        <p:spPr>
          <a:xfrm>
            <a:off x="600000" y="2250000"/>
            <a:ext cx="479200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«Si el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vuelo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sale a las HH:00 o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después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llegará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retrasado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».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 hora HH se CALIBRA con el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entrenamiento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modelos.calibrar_regla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En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esta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corrida: hora de corte = 12 → F1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prueba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0,386.</a:t>
            </a:r>
            <a:endParaRPr dirty="0"/>
          </a:p>
        </p:txBody>
      </p:sp>
      <p:sp>
        <p:nvSpPr>
          <p:cNvPr id="105" name="Google Shape;105;p2"/>
          <p:cNvSpPr txBox="1"/>
          <p:nvPr/>
        </p:nvSpPr>
        <p:spPr>
          <a:xfrm>
            <a:off x="6800000" y="1800000"/>
            <a:ext cx="58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Línea base (</a:t>
            </a:r>
            <a:r>
              <a:rPr lang="en-US" sz="14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siempre</a:t>
            </a: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14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tiempo</a:t>
            </a: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dirty="0"/>
          </a:p>
        </p:txBody>
      </p:sp>
      <p:sp>
        <p:nvSpPr>
          <p:cNvPr id="106" name="Google Shape;106;p2"/>
          <p:cNvSpPr txBox="1"/>
          <p:nvPr/>
        </p:nvSpPr>
        <p:spPr>
          <a:xfrm>
            <a:off x="6800000" y="2250000"/>
            <a:ext cx="490432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Acierta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~78 % (la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clase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mayoritaria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pero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NO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detecta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ni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un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retraso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Recall = 0 · F1 = 0 · AUC = 0,500.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 EXACTITUD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engaña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con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clase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desbalanceada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métrica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principal = AUC.</a:t>
            </a:r>
            <a:endParaRPr dirty="0"/>
          </a:p>
        </p:txBody>
      </p:sp>
      <p:sp>
        <p:nvSpPr>
          <p:cNvPr id="107" name="Google Shape;107;p2"/>
          <p:cNvSpPr txBox="1"/>
          <p:nvPr/>
        </p:nvSpPr>
        <p:spPr>
          <a:xfrm>
            <a:off x="600000" y="40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¿Para qué sirve predecir?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600000" y="4450000"/>
            <a:ext cx="12000000" cy="2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AEROLÍNEA reasigna puertas y tripulación antes del evento.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El PASAJERO reorganiza una conexión con tiempo de reacción.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predicción se emite a la HORA DE SALIDA PROGRAMADA → hay tiempo real para actuar.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2 / 14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2 · Los datos</a:t>
            </a:r>
            <a:endParaRPr/>
          </a:p>
        </p:txBody>
      </p:sp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2719624834"/>
              </p:ext>
            </p:extLst>
          </p:nvPr>
        </p:nvGraphicFramePr>
        <p:xfrm>
          <a:off x="649450" y="1000000"/>
          <a:ext cx="4196870" cy="3730702"/>
        </p:xfrm>
        <a:graphic>
          <a:graphicData uri="http://schemas.openxmlformats.org/drawingml/2006/table">
            <a:tbl>
              <a:tblPr firstRow="1" bandRow="1">
                <a:noFill/>
                <a:tableStyleId>{893E14B0-F56B-4F5A-AFEA-78C6A365C949}</a:tableStyleId>
              </a:tblPr>
              <a:tblGrid>
                <a:gridCol w="199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70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Campo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287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Bureau of Transportation Statistics (BTS), U.S. DOT — On-Time Performance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85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Catálogo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Kaggle: umerhafeezsiddiqui/2021-2026-us-flights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85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 err="1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Licencia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U.S. Government Work (</a:t>
                      </a:r>
                      <a:r>
                        <a:rPr lang="en-US" sz="1000" b="0" u="none" strike="noStrike" cap="none" dirty="0" err="1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dominio</a:t>
                      </a: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000" b="0" u="none" strike="noStrike" cap="none" dirty="0" err="1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público</a:t>
                      </a: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85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Periodo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1-jun-2025 a 31-may-2026 (12 meses, un ciclo estacional)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985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Una fila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 vuelo programado (tramo origen→destino, aerolínea, fecha)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985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Etiqueta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ARR_DEL15 = 1 si llegó ≥ 15 min tarde (definición oficial del DOT)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985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Tamaño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CSV crudos · 7.786.702 </a:t>
                      </a:r>
                      <a:r>
                        <a:rPr lang="en-US" sz="1000" b="0" u="none" strike="noStrike" cap="none" dirty="0" err="1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filas</a:t>
                      </a: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0,86 GB en memoria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9" name="Google Shape;119;p3"/>
          <p:cNvSpPr txBox="1"/>
          <p:nvPr/>
        </p:nvSpPr>
        <p:spPr>
          <a:xfrm>
            <a:off x="600000" y="54097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Prevención</a:t>
            </a: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4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fuga</a:t>
            </a: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desde</a:t>
            </a: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 el principio</a:t>
            </a:r>
            <a:endParaRPr dirty="0"/>
          </a:p>
        </p:txBody>
      </p:sp>
      <p:sp>
        <p:nvSpPr>
          <p:cNvPr id="120" name="Google Shape;120;p3"/>
          <p:cNvSpPr txBox="1"/>
          <p:nvPr/>
        </p:nvSpPr>
        <p:spPr>
          <a:xfrm>
            <a:off x="600000" y="5809700"/>
            <a:ext cx="10795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Las 5 columnas de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causas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(CARRIER_, WEATHER_, NAS_, SECURITY_, LATE_AIRCRAFT_DELAY)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tienen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&gt; 50 % de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nulos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PORQUE solo se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llenan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cuando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ya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hubo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retraso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: no son solo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nulos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son FUGA. Ni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siquiera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se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leen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del CSV.</a:t>
            </a:r>
            <a:endParaRPr dirty="0"/>
          </a:p>
        </p:txBody>
      </p:sp>
      <p:sp>
        <p:nvSpPr>
          <p:cNvPr id="121" name="Google Shape;121;p3"/>
          <p:cNvSpPr txBox="1"/>
          <p:nvPr/>
        </p:nvSpPr>
        <p:spPr>
          <a:xfrm>
            <a:off x="600000" y="624065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 dirty="0"/>
          </a:p>
        </p:txBody>
      </p:sp>
      <p:sp>
        <p:nvSpPr>
          <p:cNvPr id="122" name="Google Shape;122;p3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3 / 14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9B049DC-597D-7576-6906-488EB14C9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740" y="1242740"/>
            <a:ext cx="6926535" cy="31677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571500" y="342900"/>
            <a:ext cx="110490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2B6CB0"/>
                </a:solidFill>
                <a:latin typeface="Inter"/>
                <a:ea typeface="Inter"/>
                <a:cs typeface="Inter"/>
                <a:sym typeface="Inter"/>
              </a:rPr>
              <a:t>3 · ¿ Por </a:t>
            </a:r>
            <a:r>
              <a:rPr lang="en-US" sz="2400" b="1" dirty="0" err="1">
                <a:solidFill>
                  <a:srgbClr val="2B6CB0"/>
                </a:solidFill>
                <a:latin typeface="Inter"/>
                <a:ea typeface="Inter"/>
                <a:cs typeface="Inter"/>
                <a:sym typeface="Inter"/>
              </a:rPr>
              <a:t>qué</a:t>
            </a:r>
            <a:r>
              <a:rPr lang="en-US" sz="2400" b="1" dirty="0">
                <a:solidFill>
                  <a:srgbClr val="2B6CB0"/>
                </a:solidFill>
                <a:latin typeface="Inter"/>
                <a:ea typeface="Inter"/>
                <a:cs typeface="Inter"/>
                <a:sym typeface="Inter"/>
              </a:rPr>
              <a:t> el </a:t>
            </a:r>
            <a:r>
              <a:rPr lang="en-US" sz="2400" b="1" dirty="0" err="1">
                <a:solidFill>
                  <a:srgbClr val="2B6CB0"/>
                </a:solidFill>
                <a:latin typeface="Inter"/>
                <a:ea typeface="Inter"/>
                <a:cs typeface="Inter"/>
                <a:sym typeface="Inter"/>
              </a:rPr>
              <a:t>problema</a:t>
            </a:r>
            <a:r>
              <a:rPr lang="en-US" sz="2400" b="1" dirty="0">
                <a:solidFill>
                  <a:srgbClr val="2B6CB0"/>
                </a:solidFill>
                <a:latin typeface="Inter"/>
                <a:ea typeface="Inter"/>
                <a:cs typeface="Inter"/>
                <a:sym typeface="Inter"/>
              </a:rPr>
              <a:t> es COMPLEJO ?</a:t>
            </a:r>
            <a:endParaRPr sz="2400" b="1" dirty="0">
              <a:solidFill>
                <a:srgbClr val="2B6CB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30" name="Google Shape;130;p4"/>
          <p:cNvGrpSpPr/>
          <p:nvPr/>
        </p:nvGrpSpPr>
        <p:grpSpPr>
          <a:xfrm>
            <a:off x="571500" y="952500"/>
            <a:ext cx="11049000" cy="1428900"/>
            <a:chOff x="571500" y="952500"/>
            <a:chExt cx="11049000" cy="1428900"/>
          </a:xfrm>
        </p:grpSpPr>
        <p:grpSp>
          <p:nvGrpSpPr>
            <p:cNvPr id="131" name="Google Shape;131;p4"/>
            <p:cNvGrpSpPr/>
            <p:nvPr/>
          </p:nvGrpSpPr>
          <p:grpSpPr>
            <a:xfrm>
              <a:off x="571500" y="952500"/>
              <a:ext cx="2590800" cy="1428900"/>
              <a:chOff x="0" y="0"/>
              <a:chExt cx="2590800" cy="1428900"/>
            </a:xfrm>
          </p:grpSpPr>
          <p:sp>
            <p:nvSpPr>
              <p:cNvPr id="132" name="Google Shape;132;p4"/>
              <p:cNvSpPr/>
              <p:nvPr/>
            </p:nvSpPr>
            <p:spPr>
              <a:xfrm>
                <a:off x="0" y="0"/>
                <a:ext cx="2590800" cy="1428900"/>
              </a:xfrm>
              <a:prstGeom prst="roundRect">
                <a:avLst>
                  <a:gd name="adj" fmla="val 8000"/>
                </a:avLst>
              </a:prstGeom>
              <a:solidFill>
                <a:srgbClr val="2B6CB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4"/>
              <p:cNvSpPr txBox="1"/>
              <p:nvPr/>
            </p:nvSpPr>
            <p:spPr>
              <a:xfrm>
                <a:off x="0" y="0"/>
                <a:ext cx="25908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52400" tIns="152400" rIns="152400" bIns="1524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600" b="0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12</a:t>
                </a:r>
                <a:endParaRPr sz="3600" b="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100" b="0">
                    <a:solidFill>
                      <a:srgbClr val="E2E8F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CSV mensuales (~85 MB c/u)</a:t>
                </a:r>
                <a:endParaRPr sz="1100" b="0">
                  <a:solidFill>
                    <a:srgbClr val="E2E8F0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134" name="Google Shape;134;p4"/>
            <p:cNvGrpSpPr/>
            <p:nvPr/>
          </p:nvGrpSpPr>
          <p:grpSpPr>
            <a:xfrm>
              <a:off x="3390900" y="952500"/>
              <a:ext cx="2590800" cy="1428900"/>
              <a:chOff x="0" y="0"/>
              <a:chExt cx="2590800" cy="1428900"/>
            </a:xfrm>
          </p:grpSpPr>
          <p:sp>
            <p:nvSpPr>
              <p:cNvPr id="135" name="Google Shape;135;p4"/>
              <p:cNvSpPr/>
              <p:nvPr/>
            </p:nvSpPr>
            <p:spPr>
              <a:xfrm>
                <a:off x="0" y="0"/>
                <a:ext cx="2590800" cy="1428900"/>
              </a:xfrm>
              <a:prstGeom prst="roundRect">
                <a:avLst>
                  <a:gd name="adj" fmla="val 8000"/>
                </a:avLst>
              </a:prstGeom>
              <a:solidFill>
                <a:srgbClr val="C0562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4"/>
              <p:cNvSpPr txBox="1"/>
              <p:nvPr/>
            </p:nvSpPr>
            <p:spPr>
              <a:xfrm>
                <a:off x="0" y="0"/>
                <a:ext cx="25908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52400" tIns="152400" rIns="152400" bIns="1524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600" b="0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7,78 M</a:t>
                </a:r>
                <a:endParaRPr sz="3600" b="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100" b="0">
                    <a:solidFill>
                      <a:srgbClr val="FEEBC8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filas totales en 12 meses</a:t>
                </a:r>
                <a:endParaRPr sz="1100" b="0">
                  <a:solidFill>
                    <a:srgbClr val="FEEBC8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137" name="Google Shape;137;p4"/>
            <p:cNvGrpSpPr/>
            <p:nvPr/>
          </p:nvGrpSpPr>
          <p:grpSpPr>
            <a:xfrm>
              <a:off x="6210300" y="952500"/>
              <a:ext cx="2590800" cy="1428900"/>
              <a:chOff x="0" y="0"/>
              <a:chExt cx="2590800" cy="1428900"/>
            </a:xfrm>
          </p:grpSpPr>
          <p:sp>
            <p:nvSpPr>
              <p:cNvPr id="138" name="Google Shape;138;p4"/>
              <p:cNvSpPr/>
              <p:nvPr/>
            </p:nvSpPr>
            <p:spPr>
              <a:xfrm>
                <a:off x="0" y="0"/>
                <a:ext cx="2590800" cy="1428900"/>
              </a:xfrm>
              <a:prstGeom prst="roundRect">
                <a:avLst>
                  <a:gd name="adj" fmla="val 8000"/>
                </a:avLst>
              </a:prstGeom>
              <a:solidFill>
                <a:srgbClr val="2B6CB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4"/>
              <p:cNvSpPr txBox="1"/>
              <p:nvPr/>
            </p:nvSpPr>
            <p:spPr>
              <a:xfrm>
                <a:off x="0" y="0"/>
                <a:ext cx="25908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52400" tIns="152400" rIns="152400" bIns="1524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MX" sz="3600" dirty="0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19</a:t>
                </a:r>
                <a:endParaRPr sz="3600" b="0" dirty="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100" b="0" dirty="0">
                    <a:solidFill>
                      <a:srgbClr val="E2E8F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columnas </a:t>
                </a:r>
                <a:r>
                  <a:rPr lang="en-US" sz="1100" b="0" dirty="0" err="1">
                    <a:solidFill>
                      <a:srgbClr val="E2E8F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que</a:t>
                </a:r>
                <a:r>
                  <a:rPr lang="en-US" sz="1100" b="0" dirty="0">
                    <a:solidFill>
                      <a:srgbClr val="E2E8F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 </a:t>
                </a:r>
                <a:r>
                  <a:rPr lang="en-US" sz="1100" b="0" dirty="0" err="1">
                    <a:solidFill>
                      <a:srgbClr val="E2E8F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entran</a:t>
                </a:r>
                <a:r>
                  <a:rPr lang="en-US" sz="1100" b="0" dirty="0">
                    <a:solidFill>
                      <a:srgbClr val="E2E8F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 al </a:t>
                </a:r>
                <a:r>
                  <a:rPr lang="en-US" sz="1100" b="0" dirty="0" err="1">
                    <a:solidFill>
                      <a:srgbClr val="E2E8F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modelo</a:t>
                </a:r>
                <a:endParaRPr sz="1100" b="0" dirty="0">
                  <a:solidFill>
                    <a:srgbClr val="E2E8F0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140" name="Google Shape;140;p4"/>
            <p:cNvGrpSpPr/>
            <p:nvPr/>
          </p:nvGrpSpPr>
          <p:grpSpPr>
            <a:xfrm>
              <a:off x="9029700" y="952500"/>
              <a:ext cx="2590800" cy="1428900"/>
              <a:chOff x="0" y="0"/>
              <a:chExt cx="2590800" cy="1428900"/>
            </a:xfrm>
          </p:grpSpPr>
          <p:sp>
            <p:nvSpPr>
              <p:cNvPr id="141" name="Google Shape;141;p4"/>
              <p:cNvSpPr/>
              <p:nvPr/>
            </p:nvSpPr>
            <p:spPr>
              <a:xfrm>
                <a:off x="0" y="0"/>
                <a:ext cx="2590800" cy="1428900"/>
              </a:xfrm>
              <a:prstGeom prst="roundRect">
                <a:avLst>
                  <a:gd name="adj" fmla="val 8000"/>
                </a:avLst>
              </a:prstGeom>
              <a:solidFill>
                <a:srgbClr val="2F855A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4"/>
              <p:cNvSpPr txBox="1"/>
              <p:nvPr/>
            </p:nvSpPr>
            <p:spPr>
              <a:xfrm>
                <a:off x="0" y="0"/>
                <a:ext cx="25908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52400" tIns="152400" rIns="152400" bIns="1524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600" b="0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15</a:t>
                </a:r>
                <a:endParaRPr sz="3600" b="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100" b="0">
                    <a:solidFill>
                      <a:srgbClr val="C6F6D5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columnas prohibidas por fuga</a:t>
                </a:r>
                <a:endParaRPr sz="1100" b="0">
                  <a:solidFill>
                    <a:srgbClr val="C6F6D5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</p:grpSp>
      <p:sp>
        <p:nvSpPr>
          <p:cNvPr id="143" name="Google Shape;143;p4"/>
          <p:cNvSpPr txBox="1"/>
          <p:nvPr/>
        </p:nvSpPr>
        <p:spPr>
          <a:xfrm>
            <a:off x="571500" y="2590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C05621"/>
                </a:solidFill>
                <a:latin typeface="Inter"/>
                <a:ea typeface="Inter"/>
                <a:cs typeface="Inter"/>
                <a:sym typeface="Inter"/>
              </a:rPr>
              <a:t>Qué toca hacer antes de modelar</a:t>
            </a:r>
            <a:endParaRPr sz="1500" b="1">
              <a:solidFill>
                <a:srgbClr val="C0562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4" name="Google Shape;144;p4"/>
          <p:cNvGrpSpPr/>
          <p:nvPr/>
        </p:nvGrpSpPr>
        <p:grpSpPr>
          <a:xfrm>
            <a:off x="571500" y="3009900"/>
            <a:ext cx="11049000" cy="3181500"/>
            <a:chOff x="571500" y="3009900"/>
            <a:chExt cx="11049000" cy="3181500"/>
          </a:xfrm>
        </p:grpSpPr>
        <p:grpSp>
          <p:nvGrpSpPr>
            <p:cNvPr id="145" name="Google Shape;145;p4"/>
            <p:cNvGrpSpPr/>
            <p:nvPr/>
          </p:nvGrpSpPr>
          <p:grpSpPr>
            <a:xfrm>
              <a:off x="571500" y="3009900"/>
              <a:ext cx="5410200" cy="971700"/>
              <a:chOff x="0" y="0"/>
              <a:chExt cx="5410200" cy="971700"/>
            </a:xfrm>
          </p:grpSpPr>
          <p:sp>
            <p:nvSpPr>
              <p:cNvPr id="146" name="Google Shape;146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name="adj" fmla="val 9803"/>
                </a:avLst>
              </a:prstGeom>
              <a:solidFill>
                <a:srgbClr val="F8FAFC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name="adj" fmla="val 50000"/>
                </a:avLst>
              </a:prstGeom>
              <a:solidFill>
                <a:srgbClr val="2B6CB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95250" rIns="0" bIns="952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LECTURA POR BLOQUES </a:t>
                </a:r>
                <a:r>
                  <a:rPr lang="en-US" sz="950" b="0">
                    <a:solidFill>
                      <a:srgbClr val="2B6CB0"/>
                    </a:solidFill>
                    <a:latin typeface="Arial"/>
                    <a:ea typeface="Arial"/>
                    <a:cs typeface="Arial"/>
                    <a:sym typeface="Arial"/>
                  </a:rPr>
                  <a:t>pd.read_csv(..., chunksize=1_000_000)</a:t>
                </a:r>
                <a:endParaRPr sz="12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Los 12 CSV no caben de un golpe en memoria RAM.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9" name="Google Shape;149;p4"/>
            <p:cNvGrpSpPr/>
            <p:nvPr/>
          </p:nvGrpSpPr>
          <p:grpSpPr>
            <a:xfrm>
              <a:off x="6210300" y="3009900"/>
              <a:ext cx="5410200" cy="971700"/>
              <a:chOff x="0" y="0"/>
              <a:chExt cx="5410200" cy="971700"/>
            </a:xfrm>
          </p:grpSpPr>
          <p:sp>
            <p:nvSpPr>
              <p:cNvPr id="150" name="Google Shape;150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name="adj" fmla="val 9803"/>
                </a:avLst>
              </a:prstGeom>
              <a:solidFill>
                <a:srgbClr val="F8FAFC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name="adj" fmla="val 50000"/>
                </a:avLst>
              </a:prstGeom>
              <a:solidFill>
                <a:srgbClr val="2B6CB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95250" rIns="0" bIns="952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REDUCCIÓN DE TIPOS DE DATOS</a:t>
                </a:r>
                <a:endParaRPr sz="12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2563EB"/>
                    </a:solidFill>
                    <a:latin typeface="Arial"/>
                    <a:ea typeface="Arial"/>
                    <a:cs typeface="Arial"/>
                    <a:sym typeface="Arial"/>
                  </a:rPr>
                  <a:t>float64→float32 | int→int32 | códigos a 'category'</a:t>
                </a:r>
                <a:endParaRPr sz="950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 algn="l" rtl="0">
                  <a:spcBef>
                    <a:spcPts val="225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Optimización drástica de recursos: de Gigabytes a Megabytes.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" name="Google Shape;153;p4"/>
            <p:cNvGrpSpPr/>
            <p:nvPr/>
          </p:nvGrpSpPr>
          <p:grpSpPr>
            <a:xfrm>
              <a:off x="571500" y="4114800"/>
              <a:ext cx="5410200" cy="971700"/>
              <a:chOff x="0" y="0"/>
              <a:chExt cx="5410200" cy="971700"/>
            </a:xfrm>
          </p:grpSpPr>
          <p:sp>
            <p:nvSpPr>
              <p:cNvPr id="154" name="Google Shape;154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name="adj" fmla="val 9803"/>
                </a:avLst>
              </a:prstGeom>
              <a:solidFill>
                <a:srgbClr val="F8FAFC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name="adj" fmla="val 50000"/>
                </a:avLst>
              </a:prstGeom>
              <a:solidFill>
                <a:srgbClr val="C0562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95250" rIns="0" bIns="952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CACHÉ EN PARQUET</a:t>
                </a:r>
                <a:endParaRPr sz="12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Aceleración de carga: primera corrida ~100 s, siguientes &lt; 2 s.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7" name="Google Shape;157;p4"/>
            <p:cNvGrpSpPr/>
            <p:nvPr/>
          </p:nvGrpSpPr>
          <p:grpSpPr>
            <a:xfrm>
              <a:off x="6210300" y="4114800"/>
              <a:ext cx="5410200" cy="971700"/>
              <a:chOff x="0" y="0"/>
              <a:chExt cx="5410200" cy="971700"/>
            </a:xfrm>
          </p:grpSpPr>
          <p:sp>
            <p:nvSpPr>
              <p:cNvPr id="158" name="Google Shape;158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name="adj" fmla="val 9803"/>
                </a:avLst>
              </a:prstGeom>
              <a:solidFill>
                <a:srgbClr val="F8FAFC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Google Shape;159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name="adj" fmla="val 50000"/>
                </a:avLst>
              </a:prstGeom>
              <a:solidFill>
                <a:srgbClr val="C0562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160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95250" rIns="0" bIns="952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FECHA RECONSTRUIDA</a:t>
                </a:r>
                <a:endParaRPr sz="12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Reconstrucción desde YEAR/MONTH/DAY_OF_MONTH (FL_DATE mezclaba formatos «06-01-25» y «6/1/2025»).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61" name="Google Shape;161;p4"/>
            <p:cNvGrpSpPr/>
            <p:nvPr/>
          </p:nvGrpSpPr>
          <p:grpSpPr>
            <a:xfrm>
              <a:off x="571500" y="5219700"/>
              <a:ext cx="5410200" cy="971700"/>
              <a:chOff x="0" y="0"/>
              <a:chExt cx="5410200" cy="971700"/>
            </a:xfrm>
          </p:grpSpPr>
          <p:sp>
            <p:nvSpPr>
              <p:cNvPr id="162" name="Google Shape;162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name="adj" fmla="val 9803"/>
                </a:avLst>
              </a:prstGeom>
              <a:solidFill>
                <a:srgbClr val="F8FAFC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name="adj" fmla="val 50000"/>
                </a:avLst>
              </a:prstGeom>
              <a:solidFill>
                <a:srgbClr val="2F855A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95250" rIns="0" bIns="952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HORAS hhmm % 1440</a:t>
                </a:r>
                <a:endParaRPr sz="12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Normalización: el BTS utiliza 2400 para medianoche; el módulo lo ajusta a 0.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65" name="Google Shape;165;p4"/>
            <p:cNvGrpSpPr/>
            <p:nvPr/>
          </p:nvGrpSpPr>
          <p:grpSpPr>
            <a:xfrm>
              <a:off x="6210300" y="5219700"/>
              <a:ext cx="5410200" cy="971700"/>
              <a:chOff x="0" y="0"/>
              <a:chExt cx="5410200" cy="971700"/>
            </a:xfrm>
          </p:grpSpPr>
          <p:sp>
            <p:nvSpPr>
              <p:cNvPr id="166" name="Google Shape;166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name="adj" fmla="val 9803"/>
                </a:avLst>
              </a:prstGeom>
              <a:solidFill>
                <a:srgbClr val="F8FAFC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name="adj" fmla="val 50000"/>
                </a:avLst>
              </a:prstGeom>
              <a:solidFill>
                <a:srgbClr val="2F855A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95250" rIns="0" bIns="9525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dirty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TABLA PRINCIPAL PROPIA</a:t>
                </a:r>
                <a:endParaRPr sz="1200" b="1" dirty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Rotación</a:t>
                </a:r>
                <a:r>
                  <a:rPr lang="en-US" sz="105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de la </a:t>
                </a:r>
                <a:r>
                  <a:rPr lang="en-US" sz="105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aeronave</a:t>
                </a:r>
                <a:r>
                  <a:rPr lang="en-US" sz="105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r>
                  <a:rPr lang="en-US" sz="105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deducida</a:t>
                </a:r>
                <a:r>
                  <a:rPr lang="en-US" sz="105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r>
                  <a:rPr lang="en-US" sz="105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mediante</a:t>
                </a:r>
                <a:r>
                  <a:rPr lang="en-US" sz="105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TAIL_NUM + </a:t>
                </a:r>
                <a:r>
                  <a:rPr lang="en-US" sz="105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ajuste</a:t>
                </a:r>
                <a:r>
                  <a:rPr lang="en-US" sz="105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de husos </a:t>
                </a:r>
                <a:r>
                  <a:rPr lang="en-US" sz="105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horarios</a:t>
                </a:r>
                <a:r>
                  <a:rPr lang="en-US" sz="105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.</a:t>
                </a:r>
                <a:endParaRPr sz="10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sp>
        <p:nvSpPr>
          <p:cNvPr id="169" name="Google Shape;169;p4"/>
          <p:cNvSpPr txBox="1"/>
          <p:nvPr/>
        </p:nvSpPr>
        <p:spPr>
          <a:xfrm>
            <a:off x="571500" y="6429375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Proyecto final · Machine Learning · Universidad EIA</a:t>
            </a:r>
            <a:endParaRPr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4"/>
          <p:cNvSpPr txBox="1"/>
          <p:nvPr/>
        </p:nvSpPr>
        <p:spPr>
          <a:xfrm>
            <a:off x="10477500" y="6429375"/>
            <a:ext cx="1143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4 / 14</a:t>
            </a:r>
            <a:endParaRPr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4 · La tabla principal la armamos nosotros</a:t>
            </a:r>
            <a:endParaRPr/>
          </a:p>
        </p:txBody>
      </p:sp>
      <p:sp>
        <p:nvSpPr>
          <p:cNvPr id="178" name="Google Shape;178;p5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Rotación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de la 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aeronave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: NO 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viene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en 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los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datos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. Se deduce 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ordenando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TAIL_NUM y </a:t>
            </a:r>
            <a:r>
              <a:rPr lang="en-US" sz="14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reconstruyendo</a:t>
            </a:r>
            <a:r>
              <a:rPr lang="en-US" sz="14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husos.</a:t>
            </a:r>
            <a:endParaRPr dirty="0"/>
          </a:p>
        </p:txBody>
      </p:sp>
      <p:sp>
        <p:nvSpPr>
          <p:cNvPr id="179" name="Google Shape;179;p5"/>
          <p:cNvSpPr txBox="1"/>
          <p:nvPr/>
        </p:nvSpPr>
        <p:spPr>
          <a:xfrm>
            <a:off x="600000" y="17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Variables construidas (criterio «complejidad» de la rúbrica)</a:t>
            </a:r>
            <a:endParaRPr/>
          </a:p>
        </p:txBody>
      </p:sp>
      <p:graphicFrame>
        <p:nvGraphicFramePr>
          <p:cNvPr id="180" name="Google Shape;180;p5"/>
          <p:cNvGraphicFramePr/>
          <p:nvPr/>
        </p:nvGraphicFramePr>
        <p:xfrm>
          <a:off x="600000" y="2200000"/>
          <a:ext cx="11427700" cy="2720000"/>
        </p:xfrm>
        <a:graphic>
          <a:graphicData uri="http://schemas.openxmlformats.org/drawingml/2006/table">
            <a:tbl>
              <a:tblPr firstRow="1" bandRow="1">
                <a:noFill/>
                <a:tableStyleId>{893E14B0-F56B-4F5A-AFEA-78C6A365C949}</a:tableStyleId>
              </a:tblPr>
              <a:tblGrid>
                <a:gridCol w="2600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7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Variable nueva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mide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Fuente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ret_prev_llegada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Retraso real del tramo anterior del mismo avión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Shift por TAIL_NUM + ARR_DELAY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prev_disponible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Bandera: ¿el inbound ya aterrizó antes de esta salida programada?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Comparar arr_real_prev vs dep_min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holgura_prog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Minutos entre llegada programada previa y salida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Diferencia de horarios programados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tramo_del_dia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Número de tramo que lleva la aeronave ese día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Cumcount por (TAIL_NUM, día)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vuelos_origen_hora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Congestión programada del aeropuerto de origen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Group by (ORIGIN, hora programada)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vuelos_destino_hora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Congestión programada del aeropuerto de destino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Group by (DEST, hora programada)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dias_a_festivo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Días al festivo federal más cercano (vísperas saturan)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USFederalHolidayCalendar + searchsorted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1" name="Google Shape;181;p5"/>
          <p:cNvSpPr txBox="1"/>
          <p:nvPr/>
        </p:nvSpPr>
        <p:spPr>
          <a:xfrm>
            <a:off x="600000" y="55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Anti-fuga en la construcción</a:t>
            </a:r>
            <a:endParaRPr/>
          </a:p>
        </p:txBody>
      </p:sp>
      <p:sp>
        <p:nvSpPr>
          <p:cNvPr id="182" name="Google Shape;182;p5"/>
          <p:cNvSpPr txBox="1"/>
          <p:nvPr/>
        </p:nvSpPr>
        <p:spPr>
          <a:xfrm>
            <a:off x="600000" y="5950000"/>
            <a:ext cx="10409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ret_prev_llegada solo se llena SI real_prev ≤ dep_min (el inbound ya aterrizó antes de ESTA salida programada).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vuelos_*_hora cuenta sobre vuelos PROGRAMADOS, no operados (las cancelaciones no se conocen de antemano).</a:t>
            </a:r>
            <a:endParaRPr/>
          </a:p>
        </p:txBody>
      </p:sp>
      <p:sp>
        <p:nvSpPr>
          <p:cNvPr id="183" name="Google Shape;183;p5"/>
          <p:cNvSpPr txBox="1"/>
          <p:nvPr/>
        </p:nvSpPr>
        <p:spPr>
          <a:xfrm>
            <a:off x="600000" y="6506145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184" name="Google Shape;184;p5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5 / 14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5 · Limpieza (paso 3) — bitácora con conteos reales</a:t>
            </a:r>
            <a:endParaRPr/>
          </a:p>
        </p:txBody>
      </p:sp>
      <p:sp>
        <p:nvSpPr>
          <p:cNvPr id="192" name="Google Shape;192;p6"/>
          <p:cNvSpPr txBox="1"/>
          <p:nvPr/>
        </p:nvSpPr>
        <p:spPr>
          <a:xfrm>
            <a:off x="600000" y="11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Regla del paso: aquí solo se arregla lo OBJETIVO. Nada que se APRENDA se hace aquí (va dentro del Pipeline).</a:t>
            </a:r>
            <a:endParaRPr/>
          </a:p>
        </p:txBody>
      </p:sp>
      <p:graphicFrame>
        <p:nvGraphicFramePr>
          <p:cNvPr id="193" name="Google Shape;193;p6"/>
          <p:cNvGraphicFramePr/>
          <p:nvPr>
            <p:extLst>
              <p:ext uri="{D42A27DB-BD31-4B8C-83A1-F6EECF244321}">
                <p14:modId xmlns:p14="http://schemas.microsoft.com/office/powerpoint/2010/main" val="2730792381"/>
              </p:ext>
            </p:extLst>
          </p:nvPr>
        </p:nvGraphicFramePr>
        <p:xfrm>
          <a:off x="600000" y="1700000"/>
          <a:ext cx="4785600" cy="3000000"/>
        </p:xfrm>
        <a:graphic>
          <a:graphicData uri="http://schemas.openxmlformats.org/drawingml/2006/table">
            <a:tbl>
              <a:tblPr firstRow="1" bandRow="1">
                <a:noFill/>
                <a:tableStyleId>{893E14B0-F56B-4F5A-AFEA-78C6A365C949}</a:tableStyleId>
              </a:tblPr>
              <a:tblGrid>
                <a:gridCol w="2842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Concepto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Filas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Universo crudo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7.786.702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 err="1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Cancelados</a:t>
                      </a: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145.007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 err="1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Desviados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21.637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 etiqueta ARR_DEL15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166.645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Operados CON etiqueta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7.620.055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Duplicados exactos (llave de 7 campos)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Itinerarios imposibles (sin hora/duración/distancia)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Coherencia ARR_DEL15 vs (ARR_DELAY ≥ 15)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100,00 %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Tasa de retraso en la tabla de modelado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22,44 %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94" name="Google Shape;194;p6"/>
          <p:cNvSpPr txBox="1"/>
          <p:nvPr/>
        </p:nvSpPr>
        <p:spPr>
          <a:xfrm>
            <a:off x="6357425" y="1700000"/>
            <a:ext cx="5000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Decisiones justificadas</a:t>
            </a:r>
            <a:endParaRPr/>
          </a:p>
        </p:txBody>
      </p:sp>
      <p:sp>
        <p:nvSpPr>
          <p:cNvPr id="195" name="Google Shape;195;p6"/>
          <p:cNvSpPr txBox="1"/>
          <p:nvPr/>
        </p:nvSpPr>
        <p:spPr>
          <a:xfrm>
            <a:off x="6357375" y="2150000"/>
            <a:ext cx="5000100" cy="11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Cancelados y desviados: NO SE IMPUTAN. Se marcan con tiene_etiqueta=0 y se filtran al final del paso 4.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Imputar la etiqueta sería inventar un retraso falso. Peor aún: imputar ARR_DELAY le inventa una hora de aterrizaje al tramo anterior.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Pero sus horarios SÍ cuentan para la congestión y la rotación hasta el final del paso 4.</a:t>
            </a:r>
            <a:endParaRPr/>
          </a:p>
        </p:txBody>
      </p:sp>
      <p:sp>
        <p:nvSpPr>
          <p:cNvPr id="196" name="Google Shape;196;p6"/>
          <p:cNvSpPr txBox="1"/>
          <p:nvPr/>
        </p:nvSpPr>
        <p:spPr>
          <a:xfrm>
            <a:off x="188050" y="6458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197" name="Google Shape;197;p6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6 / 14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h2f74e1468e701ad9_0_7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3" name="Google Shape;203;h2f74e1468e701ad9_0_717"/>
          <p:cNvGrpSpPr/>
          <p:nvPr/>
        </p:nvGrpSpPr>
        <p:grpSpPr>
          <a:xfrm>
            <a:off x="571500" y="259080"/>
            <a:ext cx="6428100" cy="699510"/>
            <a:chOff x="0" y="-198120"/>
            <a:chExt cx="6428100" cy="699510"/>
          </a:xfrm>
        </p:grpSpPr>
        <p:sp>
          <p:nvSpPr>
            <p:cNvPr id="204" name="Google Shape;204;h2f74e1468e701ad9_0_717"/>
            <p:cNvSpPr txBox="1"/>
            <p:nvPr/>
          </p:nvSpPr>
          <p:spPr>
            <a:xfrm>
              <a:off x="0" y="-198120"/>
              <a:ext cx="4744500" cy="40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50" b="0">
                  <a:solidFill>
                    <a:srgbClr val="1E293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6 · Prevención de Fuga de Datos</a:t>
              </a:r>
              <a:endParaRPr sz="1950" b="0">
                <a:solidFill>
                  <a:srgbClr val="1E293B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205" name="Google Shape;205;h2f74e1468e701ad9_0_717"/>
            <p:cNvSpPr txBox="1"/>
            <p:nvPr/>
          </p:nvSpPr>
          <p:spPr>
            <a:xfrm>
              <a:off x="0" y="300990"/>
              <a:ext cx="64281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Estrategia multi-capa: 3 barreras de protección + assert defensivo + prueba empírica</a:t>
              </a:r>
              <a:endParaRPr sz="975" b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206" name="Google Shape;206;h2f74e1468e701ad9_0_717"/>
          <p:cNvGrpSpPr/>
          <p:nvPr/>
        </p:nvGrpSpPr>
        <p:grpSpPr>
          <a:xfrm>
            <a:off x="471488" y="1271588"/>
            <a:ext cx="11172900" cy="2262300"/>
            <a:chOff x="-100012" y="-61912"/>
            <a:chExt cx="11172900" cy="2262300"/>
          </a:xfrm>
        </p:grpSpPr>
        <p:grpSp>
          <p:nvGrpSpPr>
            <p:cNvPr id="207" name="Google Shape;207;h2f74e1468e701ad9_0_717"/>
            <p:cNvGrpSpPr/>
            <p:nvPr/>
          </p:nvGrpSpPr>
          <p:grpSpPr>
            <a:xfrm>
              <a:off x="-100012" y="-61912"/>
              <a:ext cx="3667200" cy="2262300"/>
              <a:chOff x="-100012" y="-61912"/>
              <a:chExt cx="3667200" cy="2262300"/>
            </a:xfrm>
          </p:grpSpPr>
          <p:pic>
            <p:nvPicPr>
              <p:cNvPr id="208" name="Google Shape;208;h2f74e1468e701ad9_0_71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-100012" y="-61912"/>
                <a:ext cx="3667200" cy="22623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09" name="Google Shape;209;h2f74e1468e701ad9_0_717"/>
              <p:cNvSpPr/>
              <p:nvPr/>
            </p:nvSpPr>
            <p:spPr>
              <a:xfrm>
                <a:off x="0" y="0"/>
                <a:ext cx="34671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h2f74e1468e701ad9_0_717"/>
              <p:cNvSpPr/>
              <p:nvPr/>
            </p:nvSpPr>
            <p:spPr>
              <a:xfrm>
                <a:off x="190500" y="209550"/>
                <a:ext cx="304800" cy="304800"/>
              </a:xfrm>
              <a:prstGeom prst="ellipse">
                <a:avLst/>
              </a:prstGeom>
              <a:solidFill>
                <a:srgbClr val="EFF6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h2f74e1468e701ad9_0_717"/>
              <p:cNvSpPr txBox="1"/>
              <p:nvPr/>
            </p:nvSpPr>
            <p:spPr>
              <a:xfrm>
                <a:off x="310525" y="278130"/>
                <a:ext cx="64800" cy="169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63" b="0">
                    <a:solidFill>
                      <a:srgbClr val="2563EB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</a:t>
                </a:r>
                <a:endParaRPr sz="763" b="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212" name="Google Shape;212;h2f74e1468e701ad9_0_717"/>
              <p:cNvSpPr txBox="1"/>
              <p:nvPr/>
            </p:nvSpPr>
            <p:spPr>
              <a:xfrm>
                <a:off x="609600" y="266700"/>
                <a:ext cx="2667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>
                    <a:solidFill>
                      <a:srgbClr val="1E3A8A"/>
                    </a:solidFill>
                    <a:latin typeface="Inter"/>
                    <a:ea typeface="Inter"/>
                    <a:cs typeface="Inter"/>
                    <a:sym typeface="Inter"/>
                  </a:rPr>
                  <a:t>BARRERA 1 · LECTURA</a:t>
                </a:r>
                <a:endParaRPr/>
              </a:p>
            </p:txBody>
          </p:sp>
          <p:cxnSp>
            <p:nvCxnSpPr>
              <p:cNvPr id="213" name="Google Shape;213;h2f74e1468e701ad9_0_717"/>
              <p:cNvCxnSpPr/>
              <p:nvPr/>
            </p:nvCxnSpPr>
            <p:spPr>
              <a:xfrm>
                <a:off x="190500" y="609600"/>
                <a:ext cx="3086100" cy="0"/>
              </a:xfrm>
              <a:prstGeom prst="straightConnector1">
                <a:avLst/>
              </a:prstGeom>
              <a:solidFill>
                <a:srgbClr val="FFFFFF"/>
              </a:solidFill>
              <a:ln w="9525" cap="flat" cmpd="sng">
                <a:solidFill>
                  <a:srgbClr val="F1F5F9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14" name="Google Shape;214;h2f74e1468e701ad9_0_717"/>
              <p:cNvSpPr txBox="1"/>
              <p:nvPr/>
            </p:nvSpPr>
            <p:spPr>
              <a:xfrm>
                <a:off x="190500" y="742950"/>
                <a:ext cx="3086100" cy="1200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Filtrado estricto en la fuente.</a:t>
                </a:r>
                <a:b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b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lang="en-US" sz="1000" b="0">
                    <a:solidFill>
                      <a:srgbClr val="2563EB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cfg.COLS_CRUDAS</a:t>
                </a:r>
                <a: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descarta columnas no autorizadas al LEER el CSV. Lo no listado jamás se carga en memoria.</a:t>
                </a:r>
                <a:endParaRPr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15" name="Google Shape;215;h2f74e1468e701ad9_0_717"/>
            <p:cNvGrpSpPr/>
            <p:nvPr/>
          </p:nvGrpSpPr>
          <p:grpSpPr>
            <a:xfrm>
              <a:off x="3652838" y="-61912"/>
              <a:ext cx="3667200" cy="2262300"/>
              <a:chOff x="-100012" y="-61912"/>
              <a:chExt cx="3667200" cy="2262300"/>
            </a:xfrm>
          </p:grpSpPr>
          <p:pic>
            <p:nvPicPr>
              <p:cNvPr id="216" name="Google Shape;216;h2f74e1468e701ad9_0_71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-100012" y="-61912"/>
                <a:ext cx="3667200" cy="22623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7" name="Google Shape;217;h2f74e1468e701ad9_0_717"/>
              <p:cNvSpPr/>
              <p:nvPr/>
            </p:nvSpPr>
            <p:spPr>
              <a:xfrm>
                <a:off x="0" y="0"/>
                <a:ext cx="34671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0284C7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h2f74e1468e701ad9_0_717"/>
              <p:cNvSpPr/>
              <p:nvPr/>
            </p:nvSpPr>
            <p:spPr>
              <a:xfrm>
                <a:off x="190500" y="209550"/>
                <a:ext cx="304800" cy="304800"/>
              </a:xfrm>
              <a:prstGeom prst="ellipse">
                <a:avLst/>
              </a:prstGeom>
              <a:solidFill>
                <a:srgbClr val="F0F9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h2f74e1468e701ad9_0_717"/>
              <p:cNvSpPr txBox="1"/>
              <p:nvPr/>
            </p:nvSpPr>
            <p:spPr>
              <a:xfrm>
                <a:off x="310525" y="278130"/>
                <a:ext cx="64800" cy="169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63" b="0">
                    <a:solidFill>
                      <a:srgbClr val="0284C7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2</a:t>
                </a:r>
                <a:endParaRPr sz="763" b="0">
                  <a:solidFill>
                    <a:srgbClr val="0284C7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220" name="Google Shape;220;h2f74e1468e701ad9_0_717"/>
              <p:cNvSpPr txBox="1"/>
              <p:nvPr/>
            </p:nvSpPr>
            <p:spPr>
              <a:xfrm>
                <a:off x="609600" y="266700"/>
                <a:ext cx="2667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>
                    <a:solidFill>
                      <a:srgbClr val="0C4A6E"/>
                    </a:solidFill>
                    <a:latin typeface="Inter"/>
                    <a:ea typeface="Inter"/>
                    <a:cs typeface="Inter"/>
                    <a:sym typeface="Inter"/>
                  </a:rPr>
                  <a:t>BARRERA 2 · CONSTRUCCIÓN</a:t>
                </a:r>
                <a:endParaRPr/>
              </a:p>
            </p:txBody>
          </p:sp>
          <p:cxnSp>
            <p:nvCxnSpPr>
              <p:cNvPr id="221" name="Google Shape;221;h2f74e1468e701ad9_0_717"/>
              <p:cNvCxnSpPr/>
              <p:nvPr/>
            </p:nvCxnSpPr>
            <p:spPr>
              <a:xfrm>
                <a:off x="190500" y="609600"/>
                <a:ext cx="3086100" cy="0"/>
              </a:xfrm>
              <a:prstGeom prst="straightConnector1">
                <a:avLst/>
              </a:prstGeom>
              <a:solidFill>
                <a:srgbClr val="FFFFFF"/>
              </a:solidFill>
              <a:ln w="9525" cap="flat" cmpd="sng">
                <a:solidFill>
                  <a:srgbClr val="F1F5F9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22" name="Google Shape;222;h2f74e1468e701ad9_0_717"/>
              <p:cNvSpPr txBox="1"/>
              <p:nvPr/>
            </p:nvSpPr>
            <p:spPr>
              <a:xfrm>
                <a:off x="190500" y="742950"/>
                <a:ext cx="3086100" cy="1200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Aislamiento temporal de variables.</a:t>
                </a:r>
                <a:b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b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lang="en-US" sz="1000" b="0">
                    <a:solidFill>
                      <a:srgbClr val="0284C7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ret_prev_llegada</a:t>
                </a:r>
                <a: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solo se calcula si el inbound aterrizó antes de la salida programada. Congestión sobre PROGRAMADOS.</a:t>
                </a:r>
                <a:endParaRPr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23" name="Google Shape;223;h2f74e1468e701ad9_0_717"/>
            <p:cNvGrpSpPr/>
            <p:nvPr/>
          </p:nvGrpSpPr>
          <p:grpSpPr>
            <a:xfrm>
              <a:off x="7405688" y="-61912"/>
              <a:ext cx="3667200" cy="2262300"/>
              <a:chOff x="-100012" y="-61912"/>
              <a:chExt cx="3667200" cy="2262300"/>
            </a:xfrm>
          </p:grpSpPr>
          <p:pic>
            <p:nvPicPr>
              <p:cNvPr id="224" name="Google Shape;224;h2f74e1468e701ad9_0_71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-100012" y="-61912"/>
                <a:ext cx="3667200" cy="22623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25" name="Google Shape;225;h2f74e1468e701ad9_0_717"/>
              <p:cNvSpPr/>
              <p:nvPr/>
            </p:nvSpPr>
            <p:spPr>
              <a:xfrm>
                <a:off x="0" y="0"/>
                <a:ext cx="34671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0D94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h2f74e1468e701ad9_0_717"/>
              <p:cNvSpPr/>
              <p:nvPr/>
            </p:nvSpPr>
            <p:spPr>
              <a:xfrm>
                <a:off x="190500" y="209550"/>
                <a:ext cx="304800" cy="304800"/>
              </a:xfrm>
              <a:prstGeom prst="ellipse">
                <a:avLst/>
              </a:prstGeom>
              <a:solidFill>
                <a:srgbClr val="CCFBF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h2f74e1468e701ad9_0_717"/>
              <p:cNvSpPr txBox="1"/>
              <p:nvPr/>
            </p:nvSpPr>
            <p:spPr>
              <a:xfrm>
                <a:off x="310525" y="278130"/>
                <a:ext cx="64800" cy="169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63" b="0">
                    <a:solidFill>
                      <a:srgbClr val="0D9488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3</a:t>
                </a:r>
                <a:endParaRPr sz="763" b="0">
                  <a:solidFill>
                    <a:srgbClr val="0D9488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228" name="Google Shape;228;h2f74e1468e701ad9_0_717"/>
              <p:cNvSpPr txBox="1"/>
              <p:nvPr/>
            </p:nvSpPr>
            <p:spPr>
              <a:xfrm>
                <a:off x="609600" y="266700"/>
                <a:ext cx="2667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>
                    <a:solidFill>
                      <a:srgbClr val="115E59"/>
                    </a:solidFill>
                    <a:latin typeface="Inter"/>
                    <a:ea typeface="Inter"/>
                    <a:cs typeface="Inter"/>
                    <a:sym typeface="Inter"/>
                  </a:rPr>
                  <a:t>BARRERA 3 · PIPELINE</a:t>
                </a:r>
                <a:endParaRPr/>
              </a:p>
            </p:txBody>
          </p:sp>
          <p:cxnSp>
            <p:nvCxnSpPr>
              <p:cNvPr id="229" name="Google Shape;229;h2f74e1468e701ad9_0_717"/>
              <p:cNvCxnSpPr/>
              <p:nvPr/>
            </p:nvCxnSpPr>
            <p:spPr>
              <a:xfrm>
                <a:off x="190500" y="609600"/>
                <a:ext cx="3086100" cy="0"/>
              </a:xfrm>
              <a:prstGeom prst="straightConnector1">
                <a:avLst/>
              </a:prstGeom>
              <a:solidFill>
                <a:srgbClr val="FFFFFF"/>
              </a:solidFill>
              <a:ln w="9525" cap="flat" cmpd="sng">
                <a:solidFill>
                  <a:srgbClr val="F1F5F9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0" name="Google Shape;230;h2f74e1468e701ad9_0_717"/>
              <p:cNvSpPr txBox="1"/>
              <p:nvPr/>
            </p:nvSpPr>
            <p:spPr>
              <a:xfrm>
                <a:off x="190500" y="742950"/>
                <a:ext cx="3086100" cy="1200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Encapsulamiento</a:t>
                </a:r>
                <a: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de </a:t>
                </a:r>
                <a:r>
                  <a:rPr lang="en-US" sz="1100" b="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transformaciones</a:t>
                </a:r>
                <a: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.</a:t>
                </a:r>
                <a:b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b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lang="en-US" sz="1100" b="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Imputación</a:t>
                </a:r>
                <a: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, </a:t>
                </a:r>
                <a:r>
                  <a:rPr lang="en-US" sz="1100" b="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escalado</a:t>
                </a:r>
                <a: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y </a:t>
                </a:r>
                <a:r>
                  <a:rPr lang="en-US" sz="1000" b="0" dirty="0" err="1">
                    <a:solidFill>
                      <a:srgbClr val="0D9488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TargetEncoder</a:t>
                </a:r>
                <a: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DENTRO del Pipeline, </a:t>
                </a:r>
                <a:r>
                  <a:rPr lang="en-US" sz="1100" b="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reajustados</a:t>
                </a:r>
                <a: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r>
                  <a:rPr lang="en-US" sz="1100" b="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por</a:t>
                </a:r>
                <a: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r>
                  <a:rPr lang="en-US" sz="1100" b="0" dirty="0" err="1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pliegue</a:t>
                </a:r>
                <a: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de </a:t>
                </a:r>
                <a:r>
                  <a:rPr lang="en-US" sz="1000" b="0" dirty="0" err="1">
                    <a:solidFill>
                      <a:srgbClr val="475569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TimeSeriesSplit</a:t>
                </a:r>
                <a:r>
                  <a:rPr lang="en-US" sz="1100" b="0" dirty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.</a:t>
                </a:r>
                <a:endParaRPr sz="1100" b="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231" name="Google Shape;231;h2f74e1468e701ad9_0_717"/>
          <p:cNvGrpSpPr/>
          <p:nvPr/>
        </p:nvGrpSpPr>
        <p:grpSpPr>
          <a:xfrm>
            <a:off x="571500" y="3638550"/>
            <a:ext cx="10972800" cy="685800"/>
            <a:chOff x="0" y="0"/>
            <a:chExt cx="10972800" cy="685800"/>
          </a:xfrm>
        </p:grpSpPr>
        <p:sp>
          <p:nvSpPr>
            <p:cNvPr id="232" name="Google Shape;232;h2f74e1468e701ad9_0_717"/>
            <p:cNvSpPr/>
            <p:nvPr/>
          </p:nvSpPr>
          <p:spPr>
            <a:xfrm>
              <a:off x="0" y="0"/>
              <a:ext cx="10972800" cy="685800"/>
            </a:xfrm>
            <a:prstGeom prst="roundRect">
              <a:avLst>
                <a:gd name="adj" fmla="val 13888"/>
              </a:avLst>
            </a:prstGeom>
            <a:solidFill>
              <a:srgbClr val="F0FDF4"/>
            </a:solidFill>
            <a:ln w="9525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h2f74e1468e701ad9_0_717"/>
            <p:cNvSpPr/>
            <p:nvPr/>
          </p:nvSpPr>
          <p:spPr>
            <a:xfrm>
              <a:off x="0" y="0"/>
              <a:ext cx="57300" cy="685800"/>
            </a:xfrm>
            <a:prstGeom prst="roundRect">
              <a:avLst>
                <a:gd name="adj" fmla="val 50000"/>
              </a:avLst>
            </a:prstGeom>
            <a:solidFill>
              <a:srgbClr val="16A34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h2f74e1468e701ad9_0_717"/>
            <p:cNvSpPr/>
            <p:nvPr/>
          </p:nvSpPr>
          <p:spPr>
            <a:xfrm>
              <a:off x="304800" y="266700"/>
              <a:ext cx="228600" cy="152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40000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w="28575" cap="rnd" cmpd="sng">
              <a:solidFill>
                <a:srgbClr val="16A34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h2f74e1468e701ad9_0_717"/>
            <p:cNvSpPr txBox="1"/>
            <p:nvPr/>
          </p:nvSpPr>
          <p:spPr>
            <a:xfrm>
              <a:off x="666750" y="133350"/>
              <a:ext cx="100965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rPr>
                <a:t>+ ASSERT DEFENSIVO EN TIEMPO DE EJECUCIÓN</a:t>
              </a:r>
              <a:endParaRPr sz="1100" b="1">
                <a:solidFill>
                  <a:srgbClr val="14532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15803D"/>
                  </a:solidFill>
                  <a:latin typeface="Fira Code SemiBold"/>
                  <a:ea typeface="Fira Code SemiBold"/>
                  <a:cs typeface="Fira Code SemiBold"/>
                  <a:sym typeface="Fira Code SemiBold"/>
                </a:rPr>
                <a:t>columnas.verificar_sin_fuga()</a:t>
              </a:r>
              <a:r>
                <a:rPr lang="en-US" sz="1100" b="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 aborta automáticamente el notebook si una columna prohibida intenta colarse entre las variables de entrenamiento.</a:t>
              </a:r>
              <a:endParaRPr sz="1100" b="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36" name="Google Shape;236;h2f74e1468e701ad9_0_717"/>
          <p:cNvGrpSpPr/>
          <p:nvPr/>
        </p:nvGrpSpPr>
        <p:grpSpPr>
          <a:xfrm>
            <a:off x="471488" y="4505325"/>
            <a:ext cx="11172900" cy="1809600"/>
            <a:chOff x="-100012" y="-47625"/>
            <a:chExt cx="11172900" cy="1809600"/>
          </a:xfrm>
        </p:grpSpPr>
        <p:pic>
          <p:nvPicPr>
            <p:cNvPr id="237" name="Google Shape;237;h2f74e1468e701ad9_0_71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-100012" y="-47625"/>
              <a:ext cx="11172900" cy="1809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8" name="Google Shape;238;h2f74e1468e701ad9_0_717"/>
            <p:cNvSpPr/>
            <p:nvPr/>
          </p:nvSpPr>
          <p:spPr>
            <a:xfrm>
              <a:off x="0" y="0"/>
              <a:ext cx="57300" cy="167640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9" name="Google Shape;239;h2f74e1468e701ad9_0_717"/>
            <p:cNvGrpSpPr/>
            <p:nvPr/>
          </p:nvGrpSpPr>
          <p:grpSpPr>
            <a:xfrm>
              <a:off x="304800" y="129540"/>
              <a:ext cx="6477000" cy="1280310"/>
              <a:chOff x="0" y="-99060"/>
              <a:chExt cx="6477000" cy="1280310"/>
            </a:xfrm>
          </p:grpSpPr>
          <p:sp>
            <p:nvSpPr>
              <p:cNvPr id="240" name="Google Shape;240;h2f74e1468e701ad9_0_717"/>
              <p:cNvSpPr txBox="1"/>
              <p:nvPr/>
            </p:nvSpPr>
            <p:spPr>
              <a:xfrm>
                <a:off x="0" y="-99060"/>
                <a:ext cx="3520200" cy="200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75" b="1">
                    <a:solidFill>
                      <a:srgbClr val="C2410C"/>
                    </a:solidFill>
                    <a:latin typeface="Inter"/>
                    <a:ea typeface="Inter"/>
                    <a:cs typeface="Inter"/>
                    <a:sym typeface="Inter"/>
                  </a:rPr>
                  <a:t>Demostración Empírica (Celda 4.4 del notebook)</a:t>
                </a:r>
                <a:endParaRPr sz="975" b="1">
                  <a:solidFill>
                    <a:srgbClr val="C2410C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1" name="Google Shape;241;h2f74e1468e701ad9_0_717"/>
              <p:cNvSpPr txBox="1"/>
              <p:nvPr/>
            </p:nvSpPr>
            <p:spPr>
              <a:xfrm>
                <a:off x="0" y="323850"/>
                <a:ext cx="64770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Entrenamos un </a:t>
                </a:r>
                <a:r>
                  <a:rPr lang="en-US" sz="1000" b="0">
                    <a:solidFill>
                      <a:srgbClr val="EA580C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HistGradientBoosting</a:t>
                </a:r>
                <a: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evaluando el impacto directo con y sin la variable </a:t>
                </a:r>
                <a:r>
                  <a:rPr lang="en-US" sz="1000" b="0">
                    <a:solidFill>
                      <a:srgbClr val="EA580C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DEP_DELAY</a:t>
                </a:r>
                <a:r>
                  <a:rPr lang="en-US" sz="1100" b="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(fuga típica, se mide al salir de puerta).</a:t>
                </a:r>
                <a:endParaRPr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>
                    <a:solidFill>
                      <a:srgbClr val="1E293B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El salto en el rendimiento representa la FIRMA DE LA FUGA: métricas irrealmente perfectas que no se pueden obtener en producción.</a:t>
                </a:r>
                <a:endParaRPr sz="1100" b="0">
                  <a:solidFill>
                    <a:srgbClr val="1E293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Ejemplo canónico de la rúbrica: </a:t>
                </a:r>
                <a:r>
                  <a:rPr lang="en-US" sz="1000" b="0">
                    <a:solidFill>
                      <a:srgbClr val="64748B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sesión 6 · seguros · decision_renovacion → AUC 1,000</a:t>
                </a:r>
                <a:r>
                  <a:rPr lang="en-US" sz="1000" b="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.</a:t>
                </a:r>
                <a:endParaRPr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42" name="Google Shape;242;h2f74e1468e701ad9_0_717"/>
            <p:cNvGrpSpPr/>
            <p:nvPr/>
          </p:nvGrpSpPr>
          <p:grpSpPr>
            <a:xfrm>
              <a:off x="7239000" y="228600"/>
              <a:ext cx="3429000" cy="1219200"/>
              <a:chOff x="0" y="0"/>
              <a:chExt cx="3429000" cy="1219200"/>
            </a:xfrm>
          </p:grpSpPr>
          <p:sp>
            <p:nvSpPr>
              <p:cNvPr id="243" name="Google Shape;243;h2f74e1468e701ad9_0_717"/>
              <p:cNvSpPr/>
              <p:nvPr/>
            </p:nvSpPr>
            <p:spPr>
              <a:xfrm>
                <a:off x="0" y="0"/>
                <a:ext cx="3429000" cy="1219200"/>
              </a:xfrm>
              <a:prstGeom prst="roundRect">
                <a:avLst>
                  <a:gd name="adj" fmla="val 6250"/>
                </a:avLst>
              </a:prstGeom>
              <a:solidFill>
                <a:srgbClr val="FFF7ED"/>
              </a:solidFill>
              <a:ln w="9525" cap="flat" cmpd="sng">
                <a:solidFill>
                  <a:srgbClr val="FFED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h2f74e1468e701ad9_0_717"/>
              <p:cNvSpPr txBox="1"/>
              <p:nvPr/>
            </p:nvSpPr>
            <p:spPr>
              <a:xfrm>
                <a:off x="190500" y="152400"/>
                <a:ext cx="304800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C2410C"/>
                    </a:solidFill>
                    <a:latin typeface="Inter"/>
                    <a:ea typeface="Inter"/>
                    <a:cs typeface="Inter"/>
                    <a:sym typeface="Inter"/>
                  </a:rPr>
                  <a:t>EFECTO DE LA FUGA (DEP_DELAY)</a:t>
                </a:r>
                <a:endParaRPr sz="900" b="1">
                  <a:solidFill>
                    <a:srgbClr val="C2410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2800" b="0">
                    <a:solidFill>
                      <a:srgbClr val="EA580C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AUC 1.000</a:t>
                </a:r>
                <a:endParaRPr sz="2800" b="0">
                  <a:solidFill>
                    <a:srgbClr val="EA580C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9A3412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Métrica irreal / Inalcanzable en producción</a:t>
                </a:r>
                <a:endParaRPr sz="900" b="0">
                  <a:solidFill>
                    <a:srgbClr val="9A3412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</p:grpSp>
      <p:sp>
        <p:nvSpPr>
          <p:cNvPr id="245" name="Google Shape;245;h2f74e1468e701ad9_0_717"/>
          <p:cNvSpPr txBox="1"/>
          <p:nvPr/>
        </p:nvSpPr>
        <p:spPr>
          <a:xfrm>
            <a:off x="571500" y="6408420"/>
            <a:ext cx="27018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Proyecto final · Machine Learning · Universidad EIA</a:t>
            </a:r>
            <a:endParaRPr sz="675" b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7 · Faltantes — experimento controlado (4 imputadores)</a:t>
            </a:r>
            <a:endParaRPr/>
          </a:p>
        </p:txBody>
      </p:sp>
      <p:sp>
        <p:nvSpPr>
          <p:cNvPr id="253" name="Google Shape;253;p8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Variable con faltantes: ret_prev_llegada (no hay tramo anterior o el inbound aún no aterrizó).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Faltante NO aleatorio → se conserva la bandera prev_disponible (2.ª variable más importante del modelo).</a:t>
            </a:r>
            <a:endParaRPr/>
          </a:p>
        </p:txBody>
      </p:sp>
      <p:sp>
        <p:nvSpPr>
          <p:cNvPr id="254" name="Google Shape;254;p8"/>
          <p:cNvSpPr txBox="1"/>
          <p:nvPr/>
        </p:nvSpPr>
        <p:spPr>
          <a:xfrm>
            <a:off x="600000" y="21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60.000 </a:t>
            </a:r>
            <a:r>
              <a:rPr lang="en-US" sz="13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filas</a:t>
            </a:r>
            <a:r>
              <a:rPr lang="en-US" sz="13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, se </a:t>
            </a:r>
            <a:r>
              <a:rPr lang="en-US" sz="13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oculta</a:t>
            </a:r>
            <a:r>
              <a:rPr lang="en-US" sz="13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 el 25 % y se </a:t>
            </a:r>
            <a:r>
              <a:rPr lang="en-US" sz="13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mide</a:t>
            </a:r>
            <a:r>
              <a:rPr lang="en-US" sz="13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 el MAE (</a:t>
            </a:r>
            <a:r>
              <a:rPr lang="en-US" sz="13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minutos</a:t>
            </a:r>
            <a:r>
              <a:rPr lang="en-US" sz="13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dirty="0"/>
          </a:p>
        </p:txBody>
      </p:sp>
      <p:graphicFrame>
        <p:nvGraphicFramePr>
          <p:cNvPr id="255" name="Google Shape;255;p8"/>
          <p:cNvGraphicFramePr/>
          <p:nvPr/>
        </p:nvGraphicFramePr>
        <p:xfrm>
          <a:off x="600000" y="2600000"/>
          <a:ext cx="11340650" cy="1900000"/>
        </p:xfrm>
        <a:graphic>
          <a:graphicData uri="http://schemas.openxmlformats.org/drawingml/2006/table">
            <a:tbl>
              <a:tblPr firstRow="1" bandRow="1">
                <a:noFill/>
                <a:tableStyleId>{893E14B0-F56B-4F5A-AFEA-78C6A365C949}</a:tableStyleId>
              </a:tblPr>
              <a:tblGrid>
                <a:gridCol w="242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9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3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Método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MAE (min)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Observación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Mediana por hora de salida ★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18,44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Mejor del experimento, por poco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Mediana global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18,57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Pierde solo 0,13 min → más simple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Regresión (HistGradientBoosting)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19,94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Peor que la mediana (overfit del regresor)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 global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20,25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 base: desviación típica = 71,76 min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6" name="Google Shape;256;p8"/>
          <p:cNvSpPr txBox="1"/>
          <p:nvPr/>
        </p:nvSpPr>
        <p:spPr>
          <a:xfrm>
            <a:off x="600000" y="47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Decisión y por qué</a:t>
            </a:r>
            <a:endParaRPr/>
          </a:p>
        </p:txBody>
      </p:sp>
      <p:sp>
        <p:nvSpPr>
          <p:cNvPr id="257" name="Google Shape;257;p8"/>
          <p:cNvSpPr txBox="1"/>
          <p:nvPr/>
        </p:nvSpPr>
        <p:spPr>
          <a:xfrm>
            <a:off x="600000" y="5150000"/>
            <a:ext cx="1102202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El Pipeline del paso 5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usa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SimpleImputer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(strategy='median'), REAJUSTADO EN CADA PLIEGUE.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mediana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hora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gana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0,13 min; 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mediana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global es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casi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igual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más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simple.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experimento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sirve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para ARGUMENTAR 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decisión</a:t>
            </a:r>
            <a:endParaRPr dirty="0"/>
          </a:p>
        </p:txBody>
      </p:sp>
      <p:sp>
        <p:nvSpPr>
          <p:cNvPr id="258" name="Google Shape;258;p8"/>
          <p:cNvSpPr txBox="1"/>
          <p:nvPr/>
        </p:nvSpPr>
        <p:spPr>
          <a:xfrm>
            <a:off x="262700" y="6458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259" name="Google Shape;259;p8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8 / 14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8 · Modelos — 8 familias con la misma vara</a:t>
            </a:r>
            <a:endParaRPr/>
          </a:p>
        </p:txBody>
      </p:sp>
      <p:sp>
        <p:nvSpPr>
          <p:cNvPr id="267" name="Google Shape;267;p9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Mismos pliegues, mismo Pipeline, mismos datos. KNN y SVM-kernel se descartan (costo cuadrático con cientos de miles de filas).</a:t>
            </a:r>
            <a:endParaRPr/>
          </a:p>
        </p:txBody>
      </p:sp>
      <p:graphicFrame>
        <p:nvGraphicFramePr>
          <p:cNvPr id="268" name="Google Shape;268;p9"/>
          <p:cNvGraphicFramePr/>
          <p:nvPr>
            <p:extLst>
              <p:ext uri="{D42A27DB-BD31-4B8C-83A1-F6EECF244321}">
                <p14:modId xmlns:p14="http://schemas.microsoft.com/office/powerpoint/2010/main" val="2429896905"/>
              </p:ext>
            </p:extLst>
          </p:nvPr>
        </p:nvGraphicFramePr>
        <p:xfrm>
          <a:off x="434450" y="1379291"/>
          <a:ext cx="11365550" cy="2970000"/>
        </p:xfrm>
        <a:graphic>
          <a:graphicData uri="http://schemas.openxmlformats.org/drawingml/2006/table">
            <a:tbl>
              <a:tblPr firstRow="1" bandRow="1">
                <a:noFill/>
                <a:tableStyleId>{893E14B0-F56B-4F5A-AFEA-78C6A365C949}</a:tableStyleId>
              </a:tblPr>
              <a:tblGrid>
                <a:gridCol w="2268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5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31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Familia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Rol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Referencia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 base (DummyClassifier)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Siempre predice la clase mayoritaria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Referencia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Regla a mano (ReglaManual, BaseEstimator)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Calibrada con entrenamiento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Lineal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Regresión logística (liblinear + StandardScaler)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Interpretable, rápida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Árbol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Árbol de decisión (max_depth=8)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Partición no lineal explicable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Ensamble bagging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 (n_estimators=100)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Robusto, con importancias nativas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Ensamble boosting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HistGradientBoosting (nativo sklearn)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Rápido, maneja faltantes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 neuronal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 (hidden_layer_sizes=(64,32))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lineal con escalado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Ensamble boosting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 (opcional)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Benchmark de la </a:t>
                      </a:r>
                      <a:r>
                        <a:rPr lang="en-US" sz="1000" b="0" u="none" strike="noStrike" cap="none" dirty="0" err="1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industria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69" name="Google Shape;269;p9"/>
          <p:cNvSpPr txBox="1"/>
          <p:nvPr/>
        </p:nvSpPr>
        <p:spPr>
          <a:xfrm>
            <a:off x="434450" y="4509322"/>
            <a:ext cx="623971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Partición</a:t>
            </a:r>
            <a:r>
              <a:rPr lang="en-US" sz="1400" b="1" i="0" u="none" strike="noStrike" cap="none" dirty="0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validación</a:t>
            </a:r>
            <a:endParaRPr dirty="0"/>
          </a:p>
        </p:txBody>
      </p:sp>
      <p:sp>
        <p:nvSpPr>
          <p:cNvPr id="270" name="Google Shape;270;p9"/>
          <p:cNvSpPr txBox="1"/>
          <p:nvPr/>
        </p:nvSpPr>
        <p:spPr>
          <a:xfrm>
            <a:off x="434450" y="4909322"/>
            <a:ext cx="7401000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es-MX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Prueba se toman = los primeros 85% de los datos ( Junio del 2025 a abril del 2026) una muestra de 60000 de los aproximadamente 6M de datos.</a:t>
            </a:r>
          </a:p>
          <a:p>
            <a:pPr lvl="0"/>
            <a:r>
              <a:rPr lang="es-MX" sz="1200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r>
              <a:rPr lang="es-MX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MX" sz="1200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Prueba final = último 15 % del calendario (corte: 9 de abril de 2026). Se mira UNA SOLA VEZ. Con una muestra de 200000 de los aproximadamente </a:t>
            </a:r>
            <a:endParaRPr lang="es-MX"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Dentro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del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entrenamiento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TimeSeriesSplit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de 3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pliegues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entrena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pasado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valida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futuro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UMBRAL ≠ 0,50: se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busca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maximizando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F1 en el ÚLTIMO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pliegue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validación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nunca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en 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prueba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dirty="0"/>
          </a:p>
        </p:txBody>
      </p:sp>
      <p:sp>
        <p:nvSpPr>
          <p:cNvPr id="271" name="Google Shape;271;p9"/>
          <p:cNvSpPr txBox="1"/>
          <p:nvPr/>
        </p:nvSpPr>
        <p:spPr>
          <a:xfrm>
            <a:off x="600000" y="63153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272" name="Google Shape;272;p9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9 / 14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2F173F5-1FDB-48D5-79F1-FD90EAA7D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477" y="4451204"/>
            <a:ext cx="4149460" cy="21577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9 · Comparación · validación cruzada (3 pliegues de 60k)</a:t>
            </a:r>
            <a:endParaRPr/>
          </a:p>
        </p:txBody>
      </p:sp>
      <p:graphicFrame>
        <p:nvGraphicFramePr>
          <p:cNvPr id="280" name="Google Shape;280;p10"/>
          <p:cNvGraphicFramePr/>
          <p:nvPr>
            <p:extLst>
              <p:ext uri="{D42A27DB-BD31-4B8C-83A1-F6EECF244321}">
                <p14:modId xmlns:p14="http://schemas.microsoft.com/office/powerpoint/2010/main" val="1266673892"/>
              </p:ext>
            </p:extLst>
          </p:nvPr>
        </p:nvGraphicFramePr>
        <p:xfrm>
          <a:off x="600000" y="879078"/>
          <a:ext cx="10875720" cy="2713635"/>
        </p:xfrm>
        <a:graphic>
          <a:graphicData uri="http://schemas.openxmlformats.org/drawingml/2006/table">
            <a:tbl>
              <a:tblPr firstRow="1" bandRow="1">
                <a:noFill/>
                <a:tableStyleId>{893E14B0-F56B-4F5A-AFEA-78C6A365C949}</a:tableStyleId>
              </a:tblPr>
              <a:tblGrid>
                <a:gridCol w="13594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9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4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946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5946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946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15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±σ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PR-AUC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Prec.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Umbral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5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 err="1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HistGradientBoosting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0,7989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0,0064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0,658</a:t>
                      </a:r>
                      <a:endParaRPr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0,599</a:t>
                      </a:r>
                      <a:endParaRPr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0,563</a:t>
                      </a:r>
                      <a:endParaRPr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0,640</a:t>
                      </a:r>
                      <a:endParaRPr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0,32</a:t>
                      </a:r>
                      <a:endParaRPr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5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 err="1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0,7964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0,0076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0,652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0,599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0,537</a:t>
                      </a:r>
                      <a:endParaRPr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0,678</a:t>
                      </a:r>
                      <a:endParaRPr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0,36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5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 ★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0,7943</a:t>
                      </a:r>
                      <a:endParaRPr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0,0074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0,645</a:t>
                      </a:r>
                      <a:endParaRPr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0,593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0,539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0,659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0,33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5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 (red neuronal)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0,7823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0,0100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0,623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0,580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0,535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0,632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0,32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5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Árbol de decisión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0,7813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0,0097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0,632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0,586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0,599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0,27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5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Regresión logística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0,7367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0,0063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0,552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0,511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0,442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0,608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0,29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5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Regla a mano (h≥12)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0,5794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0,0105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0,242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0,381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0,701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0,261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51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 base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0,5000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0,0000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0,211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0,50</a:t>
                      </a:r>
                      <a:endParaRPr dirty="0"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81" name="Google Shape;281;p10"/>
          <p:cNvSpPr txBox="1"/>
          <p:nvPr/>
        </p:nvSpPr>
        <p:spPr>
          <a:xfrm>
            <a:off x="600000" y="3871791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Lectura </a:t>
            </a:r>
            <a:r>
              <a:rPr lang="en-US" sz="1400" b="1" i="0" u="none" strike="noStrike" cap="none" dirty="0" err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rápida</a:t>
            </a:r>
            <a:endParaRPr dirty="0"/>
          </a:p>
        </p:txBody>
      </p:sp>
      <p:sp>
        <p:nvSpPr>
          <p:cNvPr id="282" name="Google Shape;282;p10"/>
          <p:cNvSpPr txBox="1"/>
          <p:nvPr/>
        </p:nvSpPr>
        <p:spPr>
          <a:xfrm>
            <a:off x="600000" y="4301594"/>
            <a:ext cx="390799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Los 3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ensambles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HistGB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RF)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están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EMPATADOS en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validación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dentro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de 1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desviación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típica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(0,0064).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logística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se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queda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muy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debajo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: con solo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linealidad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no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captura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rotación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del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avión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regla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a mano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calibrada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(hora 12)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ya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mete recall alto (0,70)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pero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con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precisión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bajísima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(0,26).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línea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base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acierta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78 %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pero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recall = 0: la EXACTITUD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engaña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con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clase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desbalanceada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283" name="Google Shape;283;p10"/>
          <p:cNvSpPr txBox="1"/>
          <p:nvPr/>
        </p:nvSpPr>
        <p:spPr>
          <a:xfrm>
            <a:off x="275125" y="6458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284" name="Google Shape;284;p10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10 / 14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014AED4-1CB5-DA31-5582-A181D96C30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1321"/>
          <a:stretch>
            <a:fillRect/>
          </a:stretch>
        </p:blipFill>
        <p:spPr>
          <a:xfrm>
            <a:off x="5139221" y="3716728"/>
            <a:ext cx="6094139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10 · Elección argumentada · no siempre gana el número más alto</a:t>
            </a:r>
            <a:endParaRPr/>
          </a:p>
        </p:txBody>
      </p:sp>
      <p:sp>
        <p:nvSpPr>
          <p:cNvPr id="292" name="Google Shape;292;p11"/>
          <p:cNvSpPr txBox="1"/>
          <p:nvPr/>
        </p:nvSpPr>
        <p:spPr>
          <a:xfrm>
            <a:off x="600000" y="1100000"/>
            <a:ext cx="10747704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Regla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fijada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ANTES de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mirar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la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prueba</a:t>
            </a:r>
            <a:r>
              <a:rPr lang="en-US" sz="1200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. Si hay </a:t>
            </a:r>
            <a:r>
              <a:rPr lang="en-US" sz="1200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empate</a:t>
            </a:r>
            <a:r>
              <a:rPr lang="en-US" sz="1200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se </a:t>
            </a:r>
            <a:r>
              <a:rPr lang="en-US" sz="1200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toma</a:t>
            </a:r>
            <a:r>
              <a:rPr lang="en-US" sz="1200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el </a:t>
            </a:r>
            <a:r>
              <a:rPr lang="en-US" sz="1200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modelo</a:t>
            </a:r>
            <a:r>
              <a:rPr lang="en-US" sz="1200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dirty="0" err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más</a:t>
            </a:r>
            <a:r>
              <a:rPr lang="en-US" sz="1200" dirty="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simple.</a:t>
            </a:r>
            <a:endParaRPr dirty="0"/>
          </a:p>
        </p:txBody>
      </p:sp>
      <p:sp>
        <p:nvSpPr>
          <p:cNvPr id="293" name="Google Shape;293;p11"/>
          <p:cNvSpPr/>
          <p:nvPr/>
        </p:nvSpPr>
        <p:spPr>
          <a:xfrm>
            <a:off x="600000" y="1800000"/>
            <a:ext cx="11293333" cy="1083864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 txBox="1"/>
          <p:nvPr/>
        </p:nvSpPr>
        <p:spPr>
          <a:xfrm>
            <a:off x="700000" y="1900000"/>
            <a:ext cx="11106667" cy="275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Dentro de 1 desviación típica del mejor AUC, gana el MÁS SIMPLE.</a:t>
            </a: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700000" y="2450000"/>
            <a:ext cx="11106667" cy="183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Umbral de empate: 0,7989 − 0,0064 = 0,7925. Empatan HistGB, XGBoost y Random Forest.</a:t>
            </a:r>
            <a:endParaRPr/>
          </a:p>
        </p:txBody>
      </p:sp>
      <p:graphicFrame>
        <p:nvGraphicFramePr>
          <p:cNvPr id="296" name="Google Shape;296;p11"/>
          <p:cNvGraphicFramePr/>
          <p:nvPr>
            <p:extLst>
              <p:ext uri="{D42A27DB-BD31-4B8C-83A1-F6EECF244321}">
                <p14:modId xmlns:p14="http://schemas.microsoft.com/office/powerpoint/2010/main" val="591945722"/>
              </p:ext>
            </p:extLst>
          </p:nvPr>
        </p:nvGraphicFramePr>
        <p:xfrm>
          <a:off x="600000" y="3200000"/>
          <a:ext cx="11200000" cy="1445152"/>
        </p:xfrm>
        <a:graphic>
          <a:graphicData uri="http://schemas.openxmlformats.org/drawingml/2006/table">
            <a:tbl>
              <a:tblPr firstRow="1" bandRow="1">
                <a:noFill/>
                <a:tableStyleId>{893E14B0-F56B-4F5A-AFEA-78C6A365C949}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128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 empatado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 CV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Complejidad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Decisión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28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HistGradientBoosting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0,7989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(boosting iterativo)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pierde el empate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28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0,7964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(boosting externo)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pierde el empate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28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 ★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0,7943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(bagging, interpretable)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GANA · el más simple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7" name="Google Shape;297;p11"/>
          <p:cNvSpPr txBox="1"/>
          <p:nvPr/>
        </p:nvSpPr>
        <p:spPr>
          <a:xfrm>
            <a:off x="600000" y="51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Por qué Random Forest es la elección honesta</a:t>
            </a:r>
            <a:endParaRPr/>
          </a:p>
        </p:txBody>
      </p:sp>
      <p:sp>
        <p:nvSpPr>
          <p:cNvPr id="298" name="Google Shape;298;p11"/>
          <p:cNvSpPr txBox="1"/>
          <p:nvPr/>
        </p:nvSpPr>
        <p:spPr>
          <a:xfrm>
            <a:off x="600000" y="5550000"/>
            <a:ext cx="12000000" cy="1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Importancias nativas → se puede inspeccionar qué columna manda.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Sin ajuste iterativo del gradiente → menos riesgo de sobreajuste con los pliegues temporales.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ventaja de HistGB es de 0,0046 de AUC: menor que la variabilidad entre pliegues (0,0064).</a:t>
            </a: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262675" y="6450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300" name="Google Shape;300;p11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11 / 14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571500" y="2905125"/>
            <a:ext cx="5238900" cy="3238500"/>
          </a:xfrm>
          <a:prstGeom prst="roundRect">
            <a:avLst>
              <a:gd name="adj" fmla="val 294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2"/>
          <p:cNvSpPr/>
          <p:nvPr/>
        </p:nvSpPr>
        <p:spPr>
          <a:xfrm>
            <a:off x="6191250" y="2905125"/>
            <a:ext cx="5429400" cy="3238500"/>
          </a:xfrm>
          <a:prstGeom prst="roundRect">
            <a:avLst>
              <a:gd name="adj" fmla="val 294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2"/>
          <p:cNvSpPr txBox="1"/>
          <p:nvPr/>
        </p:nvSpPr>
        <p:spPr>
          <a:xfrm>
            <a:off x="571500" y="381000"/>
            <a:ext cx="110490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11 · Prueba final · 200.000 vuelos del 9-abr al 31-may 2026</a:t>
            </a:r>
            <a:endParaRPr sz="2400" b="1">
              <a:solidFill>
                <a:srgbClr val="2B6CB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 txBox="1"/>
          <p:nvPr/>
        </p:nvSpPr>
        <p:spPr>
          <a:xfrm>
            <a:off x="809625" y="3095625"/>
            <a:ext cx="4762500" cy="2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Lectura operativa</a:t>
            </a:r>
            <a:endParaRPr sz="1500" b="1">
              <a:solidFill>
                <a:srgbClr val="C0562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 txBox="1"/>
          <p:nvPr/>
        </p:nvSpPr>
        <p:spPr>
          <a:xfrm>
            <a:off x="809625" y="3476625"/>
            <a:ext cx="4762500" cy="138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Con umbral 0,333:</a:t>
            </a:r>
            <a:endParaRPr sz="1200" b="1">
              <a:solidFill>
                <a:srgbClr val="2B6CB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Char char="●"/>
            </a:pPr>
            <a:r>
              <a:rPr lang="en-US" sz="1200" b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Capturamos el </a:t>
            </a:r>
            <a:r>
              <a:rPr lang="en-US" sz="1200" b="1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52 %</a:t>
            </a:r>
            <a:r>
              <a:rPr lang="en-US" sz="1200" b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 de los retrasos reales.</a:t>
            </a:r>
            <a:endParaRPr sz="1200" b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Char char="●"/>
            </a:pPr>
            <a:r>
              <a:rPr lang="en-US" sz="1200" b="1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2 de cada 3 alertas (67 %)</a:t>
            </a:r>
            <a:r>
              <a:rPr lang="en-US" sz="1200" b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 son retrasos verdaderos.</a:t>
            </a:r>
            <a:endParaRPr sz="1200" b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Char char="●"/>
            </a:pPr>
            <a:r>
              <a:rPr lang="en-US" sz="1200" b="1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F1 = 0,586</a:t>
            </a:r>
            <a:r>
              <a:rPr lang="en-US" sz="1200" b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 (vs 0,386 de la regla a mano, </a:t>
            </a:r>
            <a:r>
              <a:rPr lang="en-US" sz="1200" b="1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+52 %</a:t>
            </a:r>
            <a:r>
              <a:rPr lang="en-US" sz="1200" b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sz="1200" b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900"/>
              </a:spcAft>
              <a:buClr>
                <a:srgbClr val="2D3748"/>
              </a:buClr>
              <a:buSzPts val="1200"/>
              <a:buFont typeface="Calibri"/>
              <a:buChar char="●"/>
            </a:pPr>
            <a:r>
              <a:rPr lang="en-US" sz="1200" b="1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AUC = 0,806</a:t>
            </a:r>
            <a:r>
              <a:rPr lang="en-US" sz="1200" b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 (vs 0,500 del azar).</a:t>
            </a:r>
            <a:endParaRPr sz="1200" b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 txBox="1"/>
          <p:nvPr/>
        </p:nvSpPr>
        <p:spPr>
          <a:xfrm>
            <a:off x="6429375" y="3095625"/>
            <a:ext cx="4953000" cy="2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Top 5 columnas (importancia por permutación)</a:t>
            </a:r>
            <a:endParaRPr sz="1500" b="1">
              <a:solidFill>
                <a:srgbClr val="C0562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 txBox="1"/>
          <p:nvPr/>
        </p:nvSpPr>
        <p:spPr>
          <a:xfrm>
            <a:off x="6429375" y="5476875"/>
            <a:ext cx="4953000" cy="47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114300" tIns="76200" rIns="114300" bIns="7620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>
                <a:solidFill>
                  <a:srgbClr val="4A5568"/>
                </a:solidFill>
                <a:highlight>
                  <a:srgbClr val="EBF8FF"/>
                </a:highlight>
                <a:latin typeface="Calibri"/>
                <a:ea typeface="Calibri"/>
                <a:cs typeface="Calibri"/>
                <a:sym typeface="Calibri"/>
              </a:rPr>
              <a:t>Las 3 primeras </a:t>
            </a:r>
            <a:r>
              <a:rPr lang="en-US" sz="1050" b="1">
                <a:solidFill>
                  <a:srgbClr val="4A5568"/>
                </a:solidFill>
                <a:highlight>
                  <a:srgbClr val="EBF8FF"/>
                </a:highlight>
                <a:latin typeface="Calibri"/>
                <a:ea typeface="Calibri"/>
                <a:cs typeface="Calibri"/>
                <a:sym typeface="Calibri"/>
              </a:rPr>
              <a:t>SON</a:t>
            </a:r>
            <a:r>
              <a:rPr lang="en-US" sz="1050" b="0">
                <a:solidFill>
                  <a:srgbClr val="4A5568"/>
                </a:solidFill>
                <a:highlight>
                  <a:srgbClr val="EBF8FF"/>
                </a:highlight>
                <a:latin typeface="Calibri"/>
                <a:ea typeface="Calibri"/>
                <a:cs typeface="Calibri"/>
                <a:sym typeface="Calibri"/>
              </a:rPr>
              <a:t> las columnas que construimos nosotros. La rotación de la aeronave es, por lejos, lo que más mueve el AUC.</a:t>
            </a:r>
            <a:endParaRPr sz="1050" b="0">
              <a:solidFill>
                <a:srgbClr val="4A5568"/>
              </a:solidFill>
              <a:highlight>
                <a:srgbClr val="EBF8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 txBox="1"/>
          <p:nvPr/>
        </p:nvSpPr>
        <p:spPr>
          <a:xfrm>
            <a:off x="571500" y="6381750"/>
            <a:ext cx="66675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 sz="1000" b="0">
              <a:solidFill>
                <a:srgbClr val="A0AE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 txBox="1"/>
          <p:nvPr/>
        </p:nvSpPr>
        <p:spPr>
          <a:xfrm>
            <a:off x="10420350" y="6381750"/>
            <a:ext cx="12003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12 / 14</a:t>
            </a:r>
            <a:endParaRPr sz="1000" b="0">
              <a:solidFill>
                <a:srgbClr val="A0AE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16" name="Google Shape;316;p12"/>
          <p:cNvGraphicFramePr/>
          <p:nvPr/>
        </p:nvGraphicFramePr>
        <p:xfrm>
          <a:off x="571500" y="1000125"/>
          <a:ext cx="11049000" cy="1666875"/>
        </p:xfrm>
        <a:graphic>
          <a:graphicData uri="http://schemas.openxmlformats.org/drawingml/2006/table">
            <a:tbl>
              <a:tblPr firstRow="1" bandRow="1">
                <a:noFill/>
                <a:tableStyleId>{893E14B0-F56B-4F5A-AFEA-78C6A365C949}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Modelo</a:t>
                      </a:r>
                      <a:endParaRPr sz="1100" b="1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L="114300" marR="114300" marT="76200" marB="76200">
                    <a:lnB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AUC</a:t>
                      </a:r>
                      <a:endParaRPr sz="1100" b="1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L="114300" marR="114300" marT="76200" marB="76200">
                    <a:lnB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PR-AUC</a:t>
                      </a:r>
                      <a:endParaRPr sz="1100" b="1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L="114300" marR="114300" marT="76200" marB="76200">
                    <a:lnB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F1</a:t>
                      </a:r>
                      <a:endParaRPr sz="1100" b="1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L="114300" marR="114300" marT="76200" marB="76200">
                    <a:lnB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Recall</a:t>
                      </a:r>
                      <a:endParaRPr sz="1100" b="1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L="114300" marR="114300" marT="76200" marB="76200">
                    <a:lnB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Precisión</a:t>
                      </a:r>
                      <a:endParaRPr sz="1100" b="1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L="114300" marR="114300" marT="76200" marB="76200">
                    <a:lnB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Exactitud</a:t>
                      </a:r>
                      <a:endParaRPr sz="1100" b="1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L="114300" marR="114300" marT="76200" marB="76200">
                    <a:lnB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Random Forest ★</a:t>
                      </a:r>
                      <a:endParaRPr sz="1100" b="1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L="114300" marR="114300" marT="76200" marB="76200">
                    <a:lnT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0,806</a:t>
                      </a:r>
                      <a:endParaRPr sz="1200" b="1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L="114300" marR="114300" marT="76200" marB="76200">
                    <a:lnT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0,659</a:t>
                      </a:r>
                      <a:endParaRPr sz="1100" b="1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L="114300" marR="114300" marT="76200" marB="76200">
                    <a:lnT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0,586</a:t>
                      </a:r>
                      <a:endParaRPr sz="1200" b="1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L="114300" marR="114300" marT="76200" marB="76200">
                    <a:lnT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0,524</a:t>
                      </a:r>
                      <a:endParaRPr sz="1100" b="1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L="114300" marR="114300" marT="76200" marB="76200">
                    <a:lnT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0,666</a:t>
                      </a:r>
                      <a:endParaRPr sz="1100" b="1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L="114300" marR="114300" marT="76200" marB="76200">
                    <a:lnT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0,848</a:t>
                      </a:r>
                      <a:endParaRPr sz="1100" b="1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L="114300" marR="114300" marT="76200" marB="76200">
                    <a:lnT w="19050" cap="flat" cmpd="sng">
                      <a:solidFill>
                        <a:srgbClr val="1A365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Regla a mano (h≥12)</a:t>
                      </a:r>
                      <a:endParaRPr sz="1050" b="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0,600</a:t>
                      </a:r>
                      <a:endParaRPr sz="1050" b="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0,247</a:t>
                      </a:r>
                      <a:endParaRPr sz="1050" b="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0,386</a:t>
                      </a:r>
                      <a:endParaRPr sz="1050" b="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0,738</a:t>
                      </a:r>
                      <a:endParaRPr sz="1050" b="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0,261</a:t>
                      </a:r>
                      <a:endParaRPr sz="1050" b="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0,518</a:t>
                      </a:r>
                      <a:endParaRPr sz="1050" b="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BEE3F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718096"/>
                          </a:solidFill>
                        </a:rPr>
                        <a:t>Línea base</a:t>
                      </a:r>
                      <a:endParaRPr sz="1050" b="0">
                        <a:solidFill>
                          <a:srgbClr val="718096"/>
                        </a:solidFill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718096"/>
                          </a:solidFill>
                        </a:rPr>
                        <a:t>0,500</a:t>
                      </a:r>
                      <a:endParaRPr sz="1050" b="0">
                        <a:solidFill>
                          <a:srgbClr val="718096"/>
                        </a:solidFill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718096"/>
                          </a:solidFill>
                        </a:rPr>
                        <a:t>0,205</a:t>
                      </a:r>
                      <a:endParaRPr sz="1050" b="0">
                        <a:solidFill>
                          <a:srgbClr val="718096"/>
                        </a:solidFill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718096"/>
                          </a:solidFill>
                        </a:rPr>
                        <a:t>0,000</a:t>
                      </a:r>
                      <a:endParaRPr sz="1050" b="0">
                        <a:solidFill>
                          <a:srgbClr val="718096"/>
                        </a:solidFill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718096"/>
                          </a:solidFill>
                        </a:rPr>
                        <a:t>0,000</a:t>
                      </a:r>
                      <a:endParaRPr sz="1050" b="0">
                        <a:solidFill>
                          <a:srgbClr val="718096"/>
                        </a:solidFill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718096"/>
                          </a:solidFill>
                        </a:rPr>
                        <a:t>0,000</a:t>
                      </a:r>
                      <a:endParaRPr sz="1050" b="0">
                        <a:solidFill>
                          <a:srgbClr val="718096"/>
                        </a:solidFill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>
                          <a:solidFill>
                            <a:srgbClr val="718096"/>
                          </a:solidFill>
                        </a:rPr>
                        <a:t>0,795</a:t>
                      </a:r>
                      <a:endParaRPr sz="1050" b="0">
                        <a:solidFill>
                          <a:srgbClr val="718096"/>
                        </a:solidFill>
                      </a:endParaRPr>
                    </a:p>
                  </a:txBody>
                  <a:tcPr marL="114300" marR="114300" marT="76200" marB="76200">
                    <a:lnT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17" name="Google Shape;317;p12"/>
          <p:cNvGraphicFramePr/>
          <p:nvPr/>
        </p:nvGraphicFramePr>
        <p:xfrm>
          <a:off x="6429375" y="3476625"/>
          <a:ext cx="4953000" cy="1905000"/>
        </p:xfrm>
        <a:graphic>
          <a:graphicData uri="http://schemas.openxmlformats.org/drawingml/2006/table">
            <a:tbl>
              <a:tblPr firstRow="1" bandRow="1">
                <a:noFill/>
                <a:tableStyleId>{893E14B0-F56B-4F5A-AFEA-78C6A365C949}</a:tableStyleId>
              </a:tblPr>
              <a:tblGrid>
                <a:gridCol w="323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49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Columna</a:t>
                      </a:r>
                      <a:endParaRPr sz="1050" b="1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L="114300" marR="114300" marT="57150" marB="571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Caída del AUC</a:t>
                      </a:r>
                      <a:endParaRPr sz="1050" b="1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L="114300" marR="114300" marT="57150" marB="57150"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>
                          <a:solidFill>
                            <a:srgbClr val="2B6CB0"/>
                          </a:solidFill>
                          <a:highlight>
                            <a:srgbClr val="FFFFFF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ret_prev_llegada</a:t>
                      </a:r>
                      <a:endParaRPr sz="950" b="1">
                        <a:solidFill>
                          <a:srgbClr val="2B6CB0"/>
                        </a:solidFill>
                        <a:highlight>
                          <a:srgbClr val="FFFFFF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4300" marR="114300" marT="57150" marB="57150">
                    <a:lnB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C05621"/>
                          </a:solidFill>
                          <a:highlight>
                            <a:srgbClr val="FFFFFF"/>
                          </a:highlight>
                        </a:rPr>
                        <a:t>+0,110</a:t>
                      </a:r>
                      <a:endParaRPr sz="1000" b="1">
                        <a:solidFill>
                          <a:srgbClr val="C05621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L="114300" marR="114300" marT="57150" marB="57150">
                    <a:lnB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>
                          <a:solidFill>
                            <a:srgbClr val="2B6CB0"/>
                          </a:solidFill>
                          <a:highlight>
                            <a:srgbClr val="F7FAFC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prev_disponible</a:t>
                      </a:r>
                      <a:endParaRPr sz="950" b="1">
                        <a:solidFill>
                          <a:srgbClr val="2B6CB0"/>
                        </a:solidFill>
                        <a:highlight>
                          <a:srgbClr val="F7FAFC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4300" marR="114300" marT="57150" marB="57150">
                    <a:lnT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C05621"/>
                          </a:solidFill>
                        </a:rPr>
                        <a:t>+0,052</a:t>
                      </a:r>
                      <a:endParaRPr sz="1000" b="1">
                        <a:solidFill>
                          <a:srgbClr val="C05621"/>
                        </a:solidFill>
                      </a:endParaRPr>
                    </a:p>
                  </a:txBody>
                  <a:tcPr marL="114300" marR="114300" marT="57150" marB="57150">
                    <a:lnT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>
                          <a:solidFill>
                            <a:srgbClr val="2B6CB0"/>
                          </a:solidFill>
                          <a:highlight>
                            <a:srgbClr val="FFFFFF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holgura_prog</a:t>
                      </a:r>
                      <a:endParaRPr sz="950" b="1">
                        <a:solidFill>
                          <a:srgbClr val="2B6CB0"/>
                        </a:solidFill>
                        <a:highlight>
                          <a:srgbClr val="FFFFFF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4300" marR="114300" marT="57150" marB="57150">
                    <a:lnT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C05621"/>
                          </a:solidFill>
                          <a:highlight>
                            <a:srgbClr val="FFFFFF"/>
                          </a:highlight>
                        </a:rPr>
                        <a:t>+0,033</a:t>
                      </a:r>
                      <a:endParaRPr sz="1000" b="1">
                        <a:solidFill>
                          <a:srgbClr val="C05621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L="114300" marR="114300" marT="57150" marB="57150">
                    <a:lnT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solidFill>
                            <a:srgbClr val="2D3748"/>
                          </a:solidFill>
                          <a:highlight>
                            <a:srgbClr val="F7FAFC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hora_sal_dec</a:t>
                      </a:r>
                      <a:endParaRPr sz="950">
                        <a:solidFill>
                          <a:srgbClr val="2D3748"/>
                        </a:solidFill>
                        <a:highlight>
                          <a:srgbClr val="F7FAFC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4300" marR="114300" marT="57150" marB="57150">
                    <a:lnT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>
                          <a:solidFill>
                            <a:srgbClr val="2D3748"/>
                          </a:solidFill>
                          <a:highlight>
                            <a:srgbClr val="F7FAFC"/>
                          </a:highlight>
                        </a:rPr>
                        <a:t>+0,013</a:t>
                      </a:r>
                      <a:endParaRPr sz="1000" b="0">
                        <a:solidFill>
                          <a:srgbClr val="2D374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L="114300" marR="114300" marT="57150" marB="57150">
                    <a:lnT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4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solidFill>
                            <a:srgbClr val="2D3748"/>
                          </a:solidFill>
                          <a:highlight>
                            <a:srgbClr val="FFFFFF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DEST (aeropuerto destino)</a:t>
                      </a:r>
                      <a:endParaRPr sz="950">
                        <a:solidFill>
                          <a:srgbClr val="2D3748"/>
                        </a:solidFill>
                        <a:highlight>
                          <a:srgbClr val="FFFFFF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4300" marR="114300" marT="57150" marB="57150">
                    <a:lnT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>
                          <a:solidFill>
                            <a:srgbClr val="2D3748"/>
                          </a:solidFill>
                          <a:highlight>
                            <a:srgbClr val="FFFFFF"/>
                          </a:highlight>
                        </a:rPr>
                        <a:t>+0,008</a:t>
                      </a:r>
                      <a:endParaRPr sz="1000" b="0">
                        <a:solidFill>
                          <a:srgbClr val="2D3748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L="114300" marR="114300" marT="57150" marB="57150">
                    <a:lnT w="9525" cap="flat" cmpd="sng">
                      <a:solidFill>
                        <a:srgbClr val="EDF2F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571500" y="3333750"/>
            <a:ext cx="11049000" cy="2905200"/>
          </a:xfrm>
          <a:prstGeom prst="roundRect">
            <a:avLst>
              <a:gd name="adj" fmla="val 3278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13"/>
          <p:cNvSpPr txBox="1"/>
          <p:nvPr/>
        </p:nvSpPr>
        <p:spPr>
          <a:xfrm>
            <a:off x="571500" y="381000"/>
            <a:ext cx="110490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12 · Código en vivo · reproducibilidad</a:t>
            </a:r>
            <a:endParaRPr sz="2400" b="1">
              <a:solidFill>
                <a:srgbClr val="2B6CB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3"/>
          <p:cNvSpPr txBox="1"/>
          <p:nvPr/>
        </p:nvSpPr>
        <p:spPr>
          <a:xfrm>
            <a:off x="571500" y="857250"/>
            <a:ext cx="110490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«Corre de principio a fin sin errores, con semilla fija. Si el entrenamiento es largo, trae el modelo guardado y una versión reducida».</a:t>
            </a:r>
            <a:endParaRPr sz="1200" b="0" i="1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3"/>
          <p:cNvSpPr/>
          <p:nvPr/>
        </p:nvSpPr>
        <p:spPr>
          <a:xfrm>
            <a:off x="571500" y="1428750"/>
            <a:ext cx="2590800" cy="1238400"/>
          </a:xfrm>
          <a:prstGeom prst="roundRect">
            <a:avLst>
              <a:gd name="adj" fmla="val 7692"/>
            </a:avLst>
          </a:prstGeom>
          <a:solidFill>
            <a:srgbClr val="2B6CB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13"/>
          <p:cNvSpPr txBox="1"/>
          <p:nvPr/>
        </p:nvSpPr>
        <p:spPr>
          <a:xfrm>
            <a:off x="571500" y="1543050"/>
            <a:ext cx="25908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3,5 min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3"/>
          <p:cNvSpPr txBox="1"/>
          <p:nvPr/>
        </p:nvSpPr>
        <p:spPr>
          <a:xfrm>
            <a:off x="666750" y="2095500"/>
            <a:ext cx="2400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Restart &amp; Run All completo</a:t>
            </a:r>
            <a:endParaRPr sz="1100" b="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3390900" y="1428750"/>
            <a:ext cx="2590800" cy="1238400"/>
          </a:xfrm>
          <a:prstGeom prst="roundRect">
            <a:avLst>
              <a:gd name="adj" fmla="val 7692"/>
            </a:avLst>
          </a:prstGeom>
          <a:solidFill>
            <a:srgbClr val="C0562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3"/>
          <p:cNvSpPr txBox="1"/>
          <p:nvPr/>
        </p:nvSpPr>
        <p:spPr>
          <a:xfrm>
            <a:off x="3390900" y="1543050"/>
            <a:ext cx="25908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42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3"/>
          <p:cNvSpPr txBox="1"/>
          <p:nvPr/>
        </p:nvSpPr>
        <p:spPr>
          <a:xfrm>
            <a:off x="3486150" y="2095500"/>
            <a:ext cx="2400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FEEBC8"/>
                </a:solidFill>
                <a:latin typeface="Calibri"/>
                <a:ea typeface="Calibri"/>
                <a:cs typeface="Calibri"/>
                <a:sym typeface="Calibri"/>
              </a:rPr>
              <a:t>semilla fija (reproducible)</a:t>
            </a:r>
            <a:endParaRPr sz="1100" b="0">
              <a:solidFill>
                <a:srgbClr val="FEEBC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6210300" y="1428750"/>
            <a:ext cx="2590800" cy="1238400"/>
          </a:xfrm>
          <a:prstGeom prst="roundRect">
            <a:avLst>
              <a:gd name="adj" fmla="val 7692"/>
            </a:avLst>
          </a:prstGeom>
          <a:solidFill>
            <a:srgbClr val="2B6CB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3"/>
          <p:cNvSpPr txBox="1"/>
          <p:nvPr/>
        </p:nvSpPr>
        <p:spPr>
          <a:xfrm>
            <a:off x="6210300" y="1543050"/>
            <a:ext cx="25908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3"/>
          <p:cNvSpPr txBox="1"/>
          <p:nvPr/>
        </p:nvSpPr>
        <p:spPr>
          <a:xfrm>
            <a:off x="6305550" y="2095500"/>
            <a:ext cx="2400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celdas de código + 24 markdown</a:t>
            </a:r>
            <a:endParaRPr sz="1100" b="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9029700" y="1428750"/>
            <a:ext cx="2590800" cy="1238400"/>
          </a:xfrm>
          <a:prstGeom prst="roundRect">
            <a:avLst>
              <a:gd name="adj" fmla="val 7692"/>
            </a:avLst>
          </a:prstGeom>
          <a:solidFill>
            <a:srgbClr val="2F855A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3"/>
          <p:cNvSpPr txBox="1"/>
          <p:nvPr/>
        </p:nvSpPr>
        <p:spPr>
          <a:xfrm>
            <a:off x="9029700" y="1543050"/>
            <a:ext cx="25908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&lt;2 s</a:t>
            </a:r>
            <a:endParaRPr sz="28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3"/>
          <p:cNvSpPr txBox="1"/>
          <p:nvPr/>
        </p:nvSpPr>
        <p:spPr>
          <a:xfrm>
            <a:off x="9124950" y="2095500"/>
            <a:ext cx="2400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6F6D5"/>
                </a:solidFill>
                <a:latin typeface="Calibri"/>
                <a:ea typeface="Calibri"/>
                <a:cs typeface="Calibri"/>
                <a:sym typeface="Calibri"/>
              </a:rPr>
              <a:t>caché parquet en 2.ª corrida</a:t>
            </a:r>
            <a:endParaRPr sz="1100" b="0">
              <a:solidFill>
                <a:srgbClr val="C6F6D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 txBox="1"/>
          <p:nvPr/>
        </p:nvSpPr>
        <p:spPr>
          <a:xfrm>
            <a:off x="571500" y="2905125"/>
            <a:ext cx="11049000" cy="2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Qué hay en el repositorio</a:t>
            </a:r>
            <a:endParaRPr sz="1500" b="1">
              <a:solidFill>
                <a:srgbClr val="C0562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3"/>
          <p:cNvSpPr txBox="1"/>
          <p:nvPr/>
        </p:nvSpPr>
        <p:spPr>
          <a:xfrm>
            <a:off x="809625" y="3476625"/>
            <a:ext cx="10572900" cy="253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src/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5 módulos (uno por paso): config, datos, columnas, modelos, evaluacion.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reports/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tablas CSV, resumen_final.json y 4 figuras PNG.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notebooks/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proyecto_final_vuelos_us.ipynb — el único notebook, con los 6 pasos.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docs/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ficha_de_datos.md · decisiones.md · diccionario_datos.md · guia_colaboracion.md.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models/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modelo_elegido.joblib (Pipeline + umbral + hora de la regla).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README.md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recorrido por los 6 pasos con los números reales de esta corrida.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3"/>
          <p:cNvSpPr txBox="1"/>
          <p:nvPr/>
        </p:nvSpPr>
        <p:spPr>
          <a:xfrm>
            <a:off x="571500" y="6429375"/>
            <a:ext cx="76200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 sz="1000" b="0">
              <a:solidFill>
                <a:srgbClr val="A0AE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3"/>
          <p:cNvSpPr txBox="1"/>
          <p:nvPr/>
        </p:nvSpPr>
        <p:spPr>
          <a:xfrm>
            <a:off x="10420350" y="6429375"/>
            <a:ext cx="12003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13 / 14</a:t>
            </a:r>
            <a:endParaRPr sz="1000" b="0">
              <a:solidFill>
                <a:srgbClr val="A0AE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4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13 · Conclusiones</a:t>
            </a:r>
            <a:endParaRPr/>
          </a:p>
        </p:txBody>
      </p:sp>
      <p:sp>
        <p:nvSpPr>
          <p:cNvPr id="350" name="Google Shape;350;p14"/>
          <p:cNvSpPr txBox="1"/>
          <p:nvPr/>
        </p:nvSpPr>
        <p:spPr>
          <a:xfrm>
            <a:off x="600000" y="13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1. El problema requiere ML.</a:t>
            </a:r>
            <a:endParaRPr/>
          </a:p>
        </p:txBody>
      </p:sp>
      <p:sp>
        <p:nvSpPr>
          <p:cNvPr id="351" name="Google Shape;351;p14"/>
          <p:cNvSpPr txBox="1"/>
          <p:nvPr/>
        </p:nvSpPr>
        <p:spPr>
          <a:xfrm>
            <a:off x="900000" y="17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 regla a mano calibrada deja F1 0,386. Random Forest lo lleva a 0,586 en la misma prueba (+52 %).</a:t>
            </a:r>
            <a:endParaRPr/>
          </a:p>
        </p:txBody>
      </p:sp>
      <p:sp>
        <p:nvSpPr>
          <p:cNvPr id="352" name="Google Shape;352;p14"/>
          <p:cNvSpPr txBox="1"/>
          <p:nvPr/>
        </p:nvSpPr>
        <p:spPr>
          <a:xfrm>
            <a:off x="600000" y="24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2. El pre-vuelo basta para anticipar.</a:t>
            </a:r>
            <a:endParaRPr/>
          </a:p>
        </p:txBody>
      </p:sp>
      <p:sp>
        <p:nvSpPr>
          <p:cNvPr id="353" name="Google Shape;353;p14"/>
          <p:cNvSpPr txBox="1"/>
          <p:nvPr/>
        </p:nvSpPr>
        <p:spPr>
          <a:xfrm>
            <a:off x="900000" y="28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Solo con itinerario, calendario, congestión y rotación conocida: AUC 0,806 (vs 0,500 del azar).</a:t>
            </a:r>
            <a:endParaRPr/>
          </a:p>
        </p:txBody>
      </p:sp>
      <p:sp>
        <p:nvSpPr>
          <p:cNvPr id="354" name="Google Shape;354;p14"/>
          <p:cNvSpPr txBox="1"/>
          <p:nvPr/>
        </p:nvSpPr>
        <p:spPr>
          <a:xfrm>
            <a:off x="600000" y="35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3. El umbral importa tanto como el modelo.</a:t>
            </a:r>
            <a:endParaRPr/>
          </a:p>
        </p:txBody>
      </p:sp>
      <p:sp>
        <p:nvSpPr>
          <p:cNvPr id="355" name="Google Shape;355;p14"/>
          <p:cNvSpPr txBox="1"/>
          <p:nvPr/>
        </p:nvSpPr>
        <p:spPr>
          <a:xfrm>
            <a:off x="900000" y="39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0,333 (buscado en validación) captura el 52 % de los retrasos con precisión 67 %. El 0,50 por defecto baja F1 a casi 0.</a:t>
            </a:r>
            <a:endParaRPr/>
          </a:p>
        </p:txBody>
      </p:sp>
      <p:sp>
        <p:nvSpPr>
          <p:cNvPr id="356" name="Google Shape;356;p14"/>
          <p:cNvSpPr txBox="1"/>
          <p:nvPr/>
        </p:nvSpPr>
        <p:spPr>
          <a:xfrm>
            <a:off x="600000" y="46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4. La fuga se demuestra, no se asume.</a:t>
            </a:r>
            <a:endParaRPr/>
          </a:p>
        </p:txBody>
      </p:sp>
      <p:sp>
        <p:nvSpPr>
          <p:cNvPr id="357" name="Google Shape;357;p14"/>
          <p:cNvSpPr txBox="1"/>
          <p:nvPr/>
        </p:nvSpPr>
        <p:spPr>
          <a:xfrm>
            <a:off x="900000" y="50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Celda 4.4: AUC con y sin DEP_DELAY. El salto característico es la firma de la fuga.</a:t>
            </a:r>
            <a:endParaRPr/>
          </a:p>
        </p:txBody>
      </p:sp>
      <p:sp>
        <p:nvSpPr>
          <p:cNvPr id="358" name="Google Shape;358;p14"/>
          <p:cNvSpPr txBox="1"/>
          <p:nvPr/>
        </p:nvSpPr>
        <p:spPr>
          <a:xfrm>
            <a:off x="600000" y="57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5. Elección por simplicidad.</a:t>
            </a:r>
            <a:endParaRPr/>
          </a:p>
        </p:txBody>
      </p:sp>
      <p:sp>
        <p:nvSpPr>
          <p:cNvPr id="359" name="Google Shape;359;p14"/>
          <p:cNvSpPr txBox="1"/>
          <p:nvPr/>
        </p:nvSpPr>
        <p:spPr>
          <a:xfrm>
            <a:off x="900000" y="61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Random Forest gana el empate con HistGB y XGBoost por ser el más interpretable (importancias nativas).</a:t>
            </a:r>
            <a:endParaRPr/>
          </a:p>
        </p:txBody>
      </p:sp>
      <p:sp>
        <p:nvSpPr>
          <p:cNvPr id="360" name="Google Shape;360;p14"/>
          <p:cNvSpPr txBox="1"/>
          <p:nvPr/>
        </p:nvSpPr>
        <p:spPr>
          <a:xfrm>
            <a:off x="150725" y="6458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361" name="Google Shape;361;p14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14 / 14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2649</Words>
  <Application>Microsoft Office PowerPoint</Application>
  <PresentationFormat>Panorámica</PresentationFormat>
  <Paragraphs>413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3" baseType="lpstr">
      <vt:lpstr>Calibri</vt:lpstr>
      <vt:lpstr>Arial</vt:lpstr>
      <vt:lpstr>Inter</vt:lpstr>
      <vt:lpstr>Fira Code SemiBold</vt:lpstr>
      <vt:lpstr>Inter ExtraBold</vt:lpstr>
      <vt:lpstr>Inter SemiBold</vt:lpstr>
      <vt:lpstr>Consolas</vt:lpstr>
      <vt:lpstr>Inter Medium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Julián Alzate Aristizábal</cp:lastModifiedBy>
  <cp:revision>1</cp:revision>
  <dcterms:created xsi:type="dcterms:W3CDTF">2013-01-27T09:14:16Z</dcterms:created>
  <dcterms:modified xsi:type="dcterms:W3CDTF">2026-10-17T04:51:22Z</dcterms:modified>
</cp:coreProperties>
</file>