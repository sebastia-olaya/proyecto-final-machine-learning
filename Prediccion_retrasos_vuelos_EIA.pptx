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y="6858000" cx="12191675"/>
  <p:notesSz cx="6858000" cy="9144000"/>
  <p:embeddedFontLst>
    <p:embeddedFont>
      <p:font typeface="Inter SemiBold"/>
      <p:regular r:id="rId21"/>
      <p:bold r:id="rId22"/>
      <p:italic r:id="rId23"/>
      <p:boldItalic r:id="rId24"/>
    </p:embeddedFont>
    <p:embeddedFont>
      <p:font typeface="Inter"/>
      <p:bold r:id="rId25"/>
      <p:boldItalic r:id="rId26"/>
    </p:embeddedFont>
    <p:embeddedFont>
      <p:font typeface="Fira Code SemiBold"/>
      <p:regular r:id="rId27"/>
      <p:bold r:id="rId28"/>
    </p:embeddedFont>
    <p:embeddedFont>
      <p:font typeface="Inter ExtraBold"/>
      <p:bold r:id="rId29"/>
      <p:boldItalic r:id="rId30"/>
    </p:embeddedFont>
    <p:embeddedFont>
      <p:font typeface="Inter Medium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35" roundtripDataSignature="AMtx7mjjAEfkVzr+atgZ9p4+cfZWPup6y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93E14B0-F56B-4F5A-AFEA-78C6A365C949}">
  <a:tblStyle styleId="{893E14B0-F56B-4F5A-AFEA-78C6A365C949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font" Target="fonts/InterSemiBold-bold.fntdata"/><Relationship Id="rId21" Type="http://schemas.openxmlformats.org/officeDocument/2006/relationships/font" Target="fonts/InterSemiBold-regular.fntdata"/><Relationship Id="rId24" Type="http://schemas.openxmlformats.org/officeDocument/2006/relationships/font" Target="fonts/InterSemiBold-boldItalic.fntdata"/><Relationship Id="rId23" Type="http://schemas.openxmlformats.org/officeDocument/2006/relationships/font" Target="fonts/InterSemiBold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boldItalic.fntdata"/><Relationship Id="rId25" Type="http://schemas.openxmlformats.org/officeDocument/2006/relationships/font" Target="fonts/Inter-bold.fntdata"/><Relationship Id="rId28" Type="http://schemas.openxmlformats.org/officeDocument/2006/relationships/font" Target="fonts/FiraCodeSemiBold-bold.fntdata"/><Relationship Id="rId27" Type="http://schemas.openxmlformats.org/officeDocument/2006/relationships/font" Target="fonts/FiraCodeSemiBold-regular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InterExtraBold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Medium-regular.fntdata"/><Relationship Id="rId30" Type="http://schemas.openxmlformats.org/officeDocument/2006/relationships/font" Target="fonts/InterExtraBold-boldItalic.fntdata"/><Relationship Id="rId11" Type="http://schemas.openxmlformats.org/officeDocument/2006/relationships/slide" Target="slides/slide5.xml"/><Relationship Id="rId33" Type="http://schemas.openxmlformats.org/officeDocument/2006/relationships/font" Target="fonts/InterMedium-italic.fntdata"/><Relationship Id="rId10" Type="http://schemas.openxmlformats.org/officeDocument/2006/relationships/slide" Target="slides/slide4.xml"/><Relationship Id="rId32" Type="http://schemas.openxmlformats.org/officeDocument/2006/relationships/font" Target="fonts/InterMedium-bold.fntdata"/><Relationship Id="rId13" Type="http://schemas.openxmlformats.org/officeDocument/2006/relationships/slide" Target="slides/slide7.xml"/><Relationship Id="rId35" Type="http://customschemas.google.com/relationships/presentationmetadata" Target="metadata"/><Relationship Id="rId12" Type="http://schemas.openxmlformats.org/officeDocument/2006/relationships/slide" Target="slides/slide6.xml"/><Relationship Id="rId34" Type="http://schemas.openxmlformats.org/officeDocument/2006/relationships/font" Target="fonts/InterMedium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3" name="Google Shape;8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3" name="Google Shape;113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5" name="Google Shape;125;p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3" name="Google Shape;173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7" name="Google Shape;187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h2f74e1468e701ad9_0_71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h2f74e1468e701ad9_0_7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8" name="Google Shape;248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2" name="Google Shape;262;p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5" name="Google Shape;275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7" name="Google Shape;287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3" name="Google Shape;303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0" name="Google Shape;320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5" name="Google Shape;345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h1fb37cf9ca51ebd0_21_0)">
  <p:cSld name="Generated (h1fb37cf9ca51ebd0_21_0)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0" y="0"/>
            <a:ext cx="12191695" cy="320000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600000" y="6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MACHINE LEARNING · UNIVERSIDAD EIA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600000" y="1300000"/>
            <a:ext cx="12000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Predicción de retrasos en vuelos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comerciales de EE. UU.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600000" y="34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Proyecto final · 30 % de la nota · Sesión 9</a:t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600000" y="39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Horizonte de predicción: hora programada de salida (pre-vuelo)</a:t>
            </a:r>
            <a:endParaRPr/>
          </a:p>
        </p:txBody>
      </p:sp>
      <p:sp>
        <p:nvSpPr>
          <p:cNvPr id="92" name="Google Shape;92;p1"/>
          <p:cNvSpPr txBox="1"/>
          <p:nvPr/>
        </p:nvSpPr>
        <p:spPr>
          <a:xfrm>
            <a:off x="600000" y="47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AUTORES</a:t>
            </a:r>
            <a:endParaRPr/>
          </a:p>
        </p:txBody>
      </p:sp>
      <p:sp>
        <p:nvSpPr>
          <p:cNvPr id="93" name="Google Shape;93;p1"/>
          <p:cNvSpPr txBox="1"/>
          <p:nvPr/>
        </p:nvSpPr>
        <p:spPr>
          <a:xfrm>
            <a:off x="600000" y="5100000"/>
            <a:ext cx="12000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Sebastián Olaya Pérez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Carlos Daniel Bedoya Moreno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Santiago Felipe Espinel León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Julián Alzate Aristizábal</a:t>
            </a:r>
            <a:endParaRPr/>
          </a:p>
        </p:txBody>
      </p:sp>
      <p:sp>
        <p:nvSpPr>
          <p:cNvPr id="94" name="Google Shape;94;p1"/>
          <p:cNvSpPr txBox="1"/>
          <p:nvPr/>
        </p:nvSpPr>
        <p:spPr>
          <a:xfrm>
            <a:off x="600000" y="67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Rama de entrega: entrega-final · Repositorio: github.com/sebastia-olaya/Proyecto-final-Machine-Learning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1 · ¿Hace falta Machine Learning?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600000" y="11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El retraso depende de la interacción NO LINEAL de la hora, la temporada, el aeropuerto, la aerolínea y la rotación de la aeronave.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600000" y="1800000"/>
            <a:ext cx="58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Punto de comparación (regla a mano)</a:t>
            </a:r>
            <a:endParaRPr/>
          </a:p>
        </p:txBody>
      </p:sp>
      <p:sp>
        <p:nvSpPr>
          <p:cNvPr id="104" name="Google Shape;104;p2"/>
          <p:cNvSpPr txBox="1"/>
          <p:nvPr/>
        </p:nvSpPr>
        <p:spPr>
          <a:xfrm>
            <a:off x="600000" y="2250000"/>
            <a:ext cx="5800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«Si el vuelo sale a las HH:00 o después, llegará retrasado».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La hora HH se CALIBRA con el entrenamiento (modelos.calibrar_regla).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En esta corrida: hora de corte = 12 → F1 prueba 0,386.</a:t>
            </a:r>
            <a:endParaRPr/>
          </a:p>
        </p:txBody>
      </p:sp>
      <p:sp>
        <p:nvSpPr>
          <p:cNvPr id="105" name="Google Shape;105;p2"/>
          <p:cNvSpPr txBox="1"/>
          <p:nvPr/>
        </p:nvSpPr>
        <p:spPr>
          <a:xfrm>
            <a:off x="6800000" y="1800000"/>
            <a:ext cx="58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Línea base (siempre a tiempo)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6800000" y="2250000"/>
            <a:ext cx="58000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Acierta ~78 % (la clase mayoritaria) pero NO detecta ni un retraso.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Recall = 0 · F1 = 0 · AUC = 0,500.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La EXACTITUD engaña con clase desbalanceada: métrica principal = AUC.</a:t>
            </a:r>
            <a:endParaRPr/>
          </a:p>
        </p:txBody>
      </p:sp>
      <p:sp>
        <p:nvSpPr>
          <p:cNvPr id="107" name="Google Shape;107;p2"/>
          <p:cNvSpPr txBox="1"/>
          <p:nvPr/>
        </p:nvSpPr>
        <p:spPr>
          <a:xfrm>
            <a:off x="600000" y="40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¿Para qué sirve predecir?</a:t>
            </a:r>
            <a:endParaRPr/>
          </a:p>
        </p:txBody>
      </p:sp>
      <p:sp>
        <p:nvSpPr>
          <p:cNvPr id="108" name="Google Shape;108;p2"/>
          <p:cNvSpPr txBox="1"/>
          <p:nvPr/>
        </p:nvSpPr>
        <p:spPr>
          <a:xfrm>
            <a:off x="600000" y="4450000"/>
            <a:ext cx="12000000" cy="2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AEROLÍNEA reasigna puertas y tripulación antes del evento.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El PASAJERO reorganiza una conexión con tiempo de reacción.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predicción se emite a la HORA DE SALIDA PROGRAMADA → hay tiempo real para actuar.</a:t>
            </a:r>
            <a:endParaRPr/>
          </a:p>
        </p:txBody>
      </p:sp>
      <p:sp>
        <p:nvSpPr>
          <p:cNvPr id="109" name="Google Shape;109;p2"/>
          <p:cNvSpPr txBox="1"/>
          <p:nvPr/>
        </p:nvSpPr>
        <p:spPr>
          <a:xfrm>
            <a:off x="300000" y="6900000"/>
            <a:ext cx="10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2 / 14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2 · Los datos</a:t>
            </a:r>
            <a:endParaRPr/>
          </a:p>
        </p:txBody>
      </p:sp>
      <p:graphicFrame>
        <p:nvGraphicFramePr>
          <p:cNvPr id="118" name="Google Shape;118;p3"/>
          <p:cNvGraphicFramePr/>
          <p:nvPr/>
        </p:nvGraphicFramePr>
        <p:xfrm>
          <a:off x="786600" y="1200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{893E14B0-F56B-4F5A-AFEA-78C6A365C949}</a:tableStyleId>
              </a:tblPr>
              <a:tblGrid>
                <a:gridCol w="5198850"/>
                <a:gridCol w="5743700"/>
              </a:tblGrid>
              <a:tr h="3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Campo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Valor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Bureau of Transportation Statistics (BTS), U.S. DOT — On-Time Performance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Catálogo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Kaggle: umerhafeezsiddiqui/2021-2026-us-flights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Licencia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U.S. Government Work (dominio público)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Periodo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1-jun-2025 a 31-may-2026 (12 meses, un ciclo estacional)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Una fila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 vuelo programado (tramo origen→destino, aerolínea, fecha)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Etiqueta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ARR_DEL15 = 1 si llegó ≥ 15 min tarde (definición oficial del DOT)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Tamaño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12 CSV crudos · 7.786.702 filas · 0,86 GB en memoria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9" name="Google Shape;119;p3"/>
          <p:cNvSpPr txBox="1"/>
          <p:nvPr/>
        </p:nvSpPr>
        <p:spPr>
          <a:xfrm>
            <a:off x="600000" y="51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Prevención de fuga desde el principio</a:t>
            </a:r>
            <a:endParaRPr/>
          </a:p>
        </p:txBody>
      </p:sp>
      <p:sp>
        <p:nvSpPr>
          <p:cNvPr id="120" name="Google Shape;120;p3"/>
          <p:cNvSpPr txBox="1"/>
          <p:nvPr/>
        </p:nvSpPr>
        <p:spPr>
          <a:xfrm>
            <a:off x="600000" y="5550000"/>
            <a:ext cx="107955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Las 5 columnas de causas (CARRIER_, WEATHER_, NAS_, SECURITY_, LATE_AIRCRAFT_DELAY) tienen &gt; 50 % de nulos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PORQUE solo se llenan cuando ya hubo retraso: no son solo nulos, son FUGA. Ni siquiera se leen del CSV.</a:t>
            </a:r>
            <a:endParaRPr/>
          </a:p>
        </p:txBody>
      </p:sp>
      <p:sp>
        <p:nvSpPr>
          <p:cNvPr id="121" name="Google Shape;121;p3"/>
          <p:cNvSpPr txBox="1"/>
          <p:nvPr/>
        </p:nvSpPr>
        <p:spPr>
          <a:xfrm>
            <a:off x="600000" y="624065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3 / 14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 txBox="1"/>
          <p:nvPr/>
        </p:nvSpPr>
        <p:spPr>
          <a:xfrm>
            <a:off x="571500" y="342900"/>
            <a:ext cx="110490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B6CB0"/>
                </a:solidFill>
                <a:latin typeface="Inter"/>
                <a:ea typeface="Inter"/>
                <a:cs typeface="Inter"/>
                <a:sym typeface="Inter"/>
              </a:rPr>
              <a:t>3 · Por qué el problema es COMPLEJO (rúbrica, 25 %)</a:t>
            </a:r>
            <a:endParaRPr b="1" sz="2400">
              <a:solidFill>
                <a:srgbClr val="2B6CB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30" name="Google Shape;130;p4"/>
          <p:cNvGrpSpPr/>
          <p:nvPr/>
        </p:nvGrpSpPr>
        <p:grpSpPr>
          <a:xfrm>
            <a:off x="571500" y="952500"/>
            <a:ext cx="11049000" cy="1428900"/>
            <a:chOff x="571500" y="952500"/>
            <a:chExt cx="11049000" cy="1428900"/>
          </a:xfrm>
        </p:grpSpPr>
        <p:grpSp>
          <p:nvGrpSpPr>
            <p:cNvPr id="131" name="Google Shape;131;p4"/>
            <p:cNvGrpSpPr/>
            <p:nvPr/>
          </p:nvGrpSpPr>
          <p:grpSpPr>
            <a:xfrm>
              <a:off x="571500" y="952500"/>
              <a:ext cx="2590800" cy="1428900"/>
              <a:chOff x="0" y="0"/>
              <a:chExt cx="2590800" cy="1428900"/>
            </a:xfrm>
          </p:grpSpPr>
          <p:sp>
            <p:nvSpPr>
              <p:cNvPr id="132" name="Google Shape;132;p4"/>
              <p:cNvSpPr/>
              <p:nvPr/>
            </p:nvSpPr>
            <p:spPr>
              <a:xfrm>
                <a:off x="0" y="0"/>
                <a:ext cx="2590800" cy="1428900"/>
              </a:xfrm>
              <a:prstGeom prst="roundRect">
                <a:avLst>
                  <a:gd fmla="val 8000" name="adj"/>
                </a:avLst>
              </a:prstGeom>
              <a:solidFill>
                <a:srgbClr val="2B6CB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3" name="Google Shape;133;p4"/>
              <p:cNvSpPr txBox="1"/>
              <p:nvPr/>
            </p:nvSpPr>
            <p:spPr>
              <a:xfrm>
                <a:off x="0" y="0"/>
                <a:ext cx="2590800" cy="1428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52400" lIns="152400" spcFirstLastPara="1" rIns="152400" wrap="square" tIns="1524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3600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12</a:t>
                </a:r>
                <a:endParaRPr b="0" sz="36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indent="0" lvl="0" marL="0" rtl="0" algn="ctr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E2E8F0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CSV mensuales (~85 MB c/u)</a:t>
                </a:r>
                <a:endParaRPr b="0" sz="1100">
                  <a:solidFill>
                    <a:srgbClr val="E2E8F0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  <p:grpSp>
          <p:nvGrpSpPr>
            <p:cNvPr id="134" name="Google Shape;134;p4"/>
            <p:cNvGrpSpPr/>
            <p:nvPr/>
          </p:nvGrpSpPr>
          <p:grpSpPr>
            <a:xfrm>
              <a:off x="3390900" y="952500"/>
              <a:ext cx="2590800" cy="1428900"/>
              <a:chOff x="0" y="0"/>
              <a:chExt cx="2590800" cy="1428900"/>
            </a:xfrm>
          </p:grpSpPr>
          <p:sp>
            <p:nvSpPr>
              <p:cNvPr id="135" name="Google Shape;135;p4"/>
              <p:cNvSpPr/>
              <p:nvPr/>
            </p:nvSpPr>
            <p:spPr>
              <a:xfrm>
                <a:off x="0" y="0"/>
                <a:ext cx="2590800" cy="1428900"/>
              </a:xfrm>
              <a:prstGeom prst="roundRect">
                <a:avLst>
                  <a:gd fmla="val 8000" name="adj"/>
                </a:avLst>
              </a:prstGeom>
              <a:solidFill>
                <a:srgbClr val="C0562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6" name="Google Shape;136;p4"/>
              <p:cNvSpPr txBox="1"/>
              <p:nvPr/>
            </p:nvSpPr>
            <p:spPr>
              <a:xfrm>
                <a:off x="0" y="0"/>
                <a:ext cx="2590800" cy="1428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52400" lIns="152400" spcFirstLastPara="1" rIns="152400" wrap="square" tIns="1524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3600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7,78 M</a:t>
                </a:r>
                <a:endParaRPr b="0" sz="36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indent="0" lvl="0" marL="0" rtl="0" algn="ctr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FEEBC8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filas totales en 12 meses</a:t>
                </a:r>
                <a:endParaRPr b="0" sz="1100">
                  <a:solidFill>
                    <a:srgbClr val="FEEBC8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  <p:grpSp>
          <p:nvGrpSpPr>
            <p:cNvPr id="137" name="Google Shape;137;p4"/>
            <p:cNvGrpSpPr/>
            <p:nvPr/>
          </p:nvGrpSpPr>
          <p:grpSpPr>
            <a:xfrm>
              <a:off x="6210300" y="952500"/>
              <a:ext cx="2590800" cy="1428900"/>
              <a:chOff x="0" y="0"/>
              <a:chExt cx="2590800" cy="1428900"/>
            </a:xfrm>
          </p:grpSpPr>
          <p:sp>
            <p:nvSpPr>
              <p:cNvPr id="138" name="Google Shape;138;p4"/>
              <p:cNvSpPr/>
              <p:nvPr/>
            </p:nvSpPr>
            <p:spPr>
              <a:xfrm>
                <a:off x="0" y="0"/>
                <a:ext cx="2590800" cy="1428900"/>
              </a:xfrm>
              <a:prstGeom prst="roundRect">
                <a:avLst>
                  <a:gd fmla="val 8000" name="adj"/>
                </a:avLst>
              </a:prstGeom>
              <a:solidFill>
                <a:srgbClr val="2B6CB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9" name="Google Shape;139;p4"/>
              <p:cNvSpPr txBox="1"/>
              <p:nvPr/>
            </p:nvSpPr>
            <p:spPr>
              <a:xfrm>
                <a:off x="0" y="0"/>
                <a:ext cx="2590800" cy="1428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52400" lIns="152400" spcFirstLastPara="1" rIns="152400" wrap="square" tIns="1524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3600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11+4</a:t>
                </a:r>
                <a:endParaRPr b="0" sz="36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indent="0" lvl="0" marL="0" rtl="0" algn="ctr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E2E8F0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columnas que entran al modelo</a:t>
                </a:r>
                <a:endParaRPr b="0" sz="1100">
                  <a:solidFill>
                    <a:srgbClr val="E2E8F0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  <p:grpSp>
          <p:nvGrpSpPr>
            <p:cNvPr id="140" name="Google Shape;140;p4"/>
            <p:cNvGrpSpPr/>
            <p:nvPr/>
          </p:nvGrpSpPr>
          <p:grpSpPr>
            <a:xfrm>
              <a:off x="9029700" y="952500"/>
              <a:ext cx="2590800" cy="1428900"/>
              <a:chOff x="0" y="0"/>
              <a:chExt cx="2590800" cy="1428900"/>
            </a:xfrm>
          </p:grpSpPr>
          <p:sp>
            <p:nvSpPr>
              <p:cNvPr id="141" name="Google Shape;141;p4"/>
              <p:cNvSpPr/>
              <p:nvPr/>
            </p:nvSpPr>
            <p:spPr>
              <a:xfrm>
                <a:off x="0" y="0"/>
                <a:ext cx="2590800" cy="1428900"/>
              </a:xfrm>
              <a:prstGeom prst="roundRect">
                <a:avLst>
                  <a:gd fmla="val 8000" name="adj"/>
                </a:avLst>
              </a:prstGeom>
              <a:solidFill>
                <a:srgbClr val="2F85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2" name="Google Shape;142;p4"/>
              <p:cNvSpPr txBox="1"/>
              <p:nvPr/>
            </p:nvSpPr>
            <p:spPr>
              <a:xfrm>
                <a:off x="0" y="0"/>
                <a:ext cx="2590800" cy="1428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152400" lIns="152400" spcFirstLastPara="1" rIns="152400" wrap="square" tIns="15240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3600">
                    <a:solidFill>
                      <a:srgbClr val="FFFFFF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15</a:t>
                </a:r>
                <a:endParaRPr b="0" sz="3600">
                  <a:solidFill>
                    <a:srgbClr val="FFFFFF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indent="0" lvl="0" marL="0" rtl="0" algn="ctr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C6F6D5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columnas prohibidas por fuga</a:t>
                </a:r>
                <a:endParaRPr b="0" sz="1100">
                  <a:solidFill>
                    <a:srgbClr val="C6F6D5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</p:grpSp>
      <p:sp>
        <p:nvSpPr>
          <p:cNvPr id="143" name="Google Shape;143;p4"/>
          <p:cNvSpPr txBox="1"/>
          <p:nvPr/>
        </p:nvSpPr>
        <p:spPr>
          <a:xfrm>
            <a:off x="571500" y="25908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05621"/>
                </a:solidFill>
                <a:latin typeface="Inter"/>
                <a:ea typeface="Inter"/>
                <a:cs typeface="Inter"/>
                <a:sym typeface="Inter"/>
              </a:rPr>
              <a:t>Qué toca hacer antes de modelar</a:t>
            </a:r>
            <a:endParaRPr b="1" sz="1500">
              <a:solidFill>
                <a:srgbClr val="C0562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grpSp>
        <p:nvGrpSpPr>
          <p:cNvPr id="144" name="Google Shape;144;p4"/>
          <p:cNvGrpSpPr/>
          <p:nvPr/>
        </p:nvGrpSpPr>
        <p:grpSpPr>
          <a:xfrm>
            <a:off x="571500" y="3009900"/>
            <a:ext cx="11049000" cy="3181500"/>
            <a:chOff x="571500" y="3009900"/>
            <a:chExt cx="11049000" cy="3181500"/>
          </a:xfrm>
        </p:grpSpPr>
        <p:grpSp>
          <p:nvGrpSpPr>
            <p:cNvPr id="145" name="Google Shape;145;p4"/>
            <p:cNvGrpSpPr/>
            <p:nvPr/>
          </p:nvGrpSpPr>
          <p:grpSpPr>
            <a:xfrm>
              <a:off x="571500" y="3009900"/>
              <a:ext cx="5410200" cy="971700"/>
              <a:chOff x="0" y="0"/>
              <a:chExt cx="5410200" cy="971700"/>
            </a:xfrm>
          </p:grpSpPr>
          <p:sp>
            <p:nvSpPr>
              <p:cNvPr id="146" name="Google Shape;146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fmla="val 9803" name="adj"/>
                </a:avLst>
              </a:prstGeom>
              <a:solidFill>
                <a:srgbClr val="F8FAFC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fmla="val 50000" name="adj"/>
                </a:avLst>
              </a:prstGeom>
              <a:solidFill>
                <a:srgbClr val="2B6CB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8" name="Google Shape;148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5250" lIns="0" spcFirstLastPara="1" rIns="0" wrap="square" tIns="952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LECTURA POR BLOQUES </a:t>
                </a:r>
                <a:r>
                  <a:rPr b="0" lang="en-US" sz="950">
                    <a:solidFill>
                      <a:srgbClr val="2B6CB0"/>
                    </a:solidFill>
                    <a:latin typeface="Arial"/>
                    <a:ea typeface="Arial"/>
                    <a:cs typeface="Arial"/>
                    <a:sym typeface="Arial"/>
                  </a:rPr>
                  <a:t>pd.read_csv(..., chunksize=1_000_000)</a:t>
                </a:r>
                <a:endParaRPr b="1" sz="12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Los 12 CSV no caben de un golpe en memoria RAM.</a:t>
                </a:r>
                <a:endParaRPr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49" name="Google Shape;149;p4"/>
            <p:cNvGrpSpPr/>
            <p:nvPr/>
          </p:nvGrpSpPr>
          <p:grpSpPr>
            <a:xfrm>
              <a:off x="6210300" y="3009900"/>
              <a:ext cx="5410200" cy="971700"/>
              <a:chOff x="0" y="0"/>
              <a:chExt cx="5410200" cy="971700"/>
            </a:xfrm>
          </p:grpSpPr>
          <p:sp>
            <p:nvSpPr>
              <p:cNvPr id="150" name="Google Shape;150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fmla="val 9803" name="adj"/>
                </a:avLst>
              </a:prstGeom>
              <a:solidFill>
                <a:srgbClr val="F8FAFC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fmla="val 50000" name="adj"/>
                </a:avLst>
              </a:prstGeom>
              <a:solidFill>
                <a:srgbClr val="2B6CB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5250" lIns="0" spcFirstLastPara="1" rIns="0" wrap="square" tIns="952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REDUCCIÓN DE TIPOS DE DATOS</a:t>
                </a:r>
                <a:endParaRPr b="1" sz="12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950">
                    <a:solidFill>
                      <a:srgbClr val="2563EB"/>
                    </a:solidFill>
                    <a:latin typeface="Arial"/>
                    <a:ea typeface="Arial"/>
                    <a:cs typeface="Arial"/>
                    <a:sym typeface="Arial"/>
                  </a:rPr>
                  <a:t>float64→float32 | int→int32 | códigos a 'category'</a:t>
                </a:r>
                <a:endParaRPr sz="950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rtl="0" algn="l">
                  <a:spcBef>
                    <a:spcPts val="225"/>
                  </a:spcBef>
                  <a:spcAft>
                    <a:spcPts val="0"/>
                  </a:spcAft>
                  <a:buNone/>
                </a:pPr>
                <a:r>
                  <a:rPr lang="en-US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Optimización drástica de recursos: de Gigabytes a Megabytes.</a:t>
                </a:r>
                <a:endParaRPr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3" name="Google Shape;153;p4"/>
            <p:cNvGrpSpPr/>
            <p:nvPr/>
          </p:nvGrpSpPr>
          <p:grpSpPr>
            <a:xfrm>
              <a:off x="571500" y="4114800"/>
              <a:ext cx="5410200" cy="971700"/>
              <a:chOff x="0" y="0"/>
              <a:chExt cx="5410200" cy="971700"/>
            </a:xfrm>
          </p:grpSpPr>
          <p:sp>
            <p:nvSpPr>
              <p:cNvPr id="154" name="Google Shape;154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fmla="val 9803" name="adj"/>
                </a:avLst>
              </a:prstGeom>
              <a:solidFill>
                <a:srgbClr val="F8FAFC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5" name="Google Shape;155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fmla="val 50000" name="adj"/>
                </a:avLst>
              </a:prstGeom>
              <a:solidFill>
                <a:srgbClr val="C0562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5250" lIns="0" spcFirstLastPara="1" rIns="0" wrap="square" tIns="952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CACHÉ EN PARQUET</a:t>
                </a:r>
                <a:endParaRPr b="1" sz="12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Aceleración de carga: primera corrida ~100 s, siguientes &lt; 2 s.</a:t>
                </a:r>
                <a:endParaRPr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57" name="Google Shape;157;p4"/>
            <p:cNvGrpSpPr/>
            <p:nvPr/>
          </p:nvGrpSpPr>
          <p:grpSpPr>
            <a:xfrm>
              <a:off x="6210300" y="4114800"/>
              <a:ext cx="5410200" cy="971700"/>
              <a:chOff x="0" y="0"/>
              <a:chExt cx="5410200" cy="971700"/>
            </a:xfrm>
          </p:grpSpPr>
          <p:sp>
            <p:nvSpPr>
              <p:cNvPr id="158" name="Google Shape;158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fmla="val 9803" name="adj"/>
                </a:avLst>
              </a:prstGeom>
              <a:solidFill>
                <a:srgbClr val="F8FAFC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" name="Google Shape;159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fmla="val 50000" name="adj"/>
                </a:avLst>
              </a:prstGeom>
              <a:solidFill>
                <a:srgbClr val="C0562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" name="Google Shape;160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5250" lIns="0" spcFirstLastPara="1" rIns="0" wrap="square" tIns="952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FECHA RECONSTRUIDA</a:t>
                </a:r>
                <a:endParaRPr b="1" sz="12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Reconstrucción desde YEAR/MONTH/DAY_OF_MONTH (FL_DATE mezclaba formatos «06-01-25» y «6/1/2025»).</a:t>
                </a:r>
                <a:endParaRPr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61" name="Google Shape;161;p4"/>
            <p:cNvGrpSpPr/>
            <p:nvPr/>
          </p:nvGrpSpPr>
          <p:grpSpPr>
            <a:xfrm>
              <a:off x="571500" y="5219700"/>
              <a:ext cx="5410200" cy="971700"/>
              <a:chOff x="0" y="0"/>
              <a:chExt cx="5410200" cy="971700"/>
            </a:xfrm>
          </p:grpSpPr>
          <p:sp>
            <p:nvSpPr>
              <p:cNvPr id="162" name="Google Shape;162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fmla="val 9803" name="adj"/>
                </a:avLst>
              </a:prstGeom>
              <a:solidFill>
                <a:srgbClr val="F8FAFC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3" name="Google Shape;163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fmla="val 50000" name="adj"/>
                </a:avLst>
              </a:prstGeom>
              <a:solidFill>
                <a:srgbClr val="2F85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4" name="Google Shape;164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5250" lIns="0" spcFirstLastPara="1" rIns="0" wrap="square" tIns="952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HORAS hhmm % 1440</a:t>
                </a:r>
                <a:endParaRPr b="1" sz="12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Normalización: el BTS utiliza 2400 para medianoche; el módulo lo ajusta a 0.</a:t>
                </a:r>
                <a:endParaRPr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65" name="Google Shape;165;p4"/>
            <p:cNvGrpSpPr/>
            <p:nvPr/>
          </p:nvGrpSpPr>
          <p:grpSpPr>
            <a:xfrm>
              <a:off x="6210300" y="5219700"/>
              <a:ext cx="5410200" cy="971700"/>
              <a:chOff x="0" y="0"/>
              <a:chExt cx="5410200" cy="971700"/>
            </a:xfrm>
          </p:grpSpPr>
          <p:sp>
            <p:nvSpPr>
              <p:cNvPr id="166" name="Google Shape;166;p4"/>
              <p:cNvSpPr/>
              <p:nvPr/>
            </p:nvSpPr>
            <p:spPr>
              <a:xfrm>
                <a:off x="0" y="0"/>
                <a:ext cx="5410200" cy="971700"/>
              </a:xfrm>
              <a:prstGeom prst="roundRect">
                <a:avLst>
                  <a:gd fmla="val 9803" name="adj"/>
                </a:avLst>
              </a:prstGeom>
              <a:solidFill>
                <a:srgbClr val="F8FAFC"/>
              </a:solidFill>
              <a:ln cap="flat" cmpd="sng" w="14300">
                <a:solidFill>
                  <a:srgbClr val="E2E8F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4"/>
              <p:cNvSpPr/>
              <p:nvPr/>
            </p:nvSpPr>
            <p:spPr>
              <a:xfrm>
                <a:off x="0" y="0"/>
                <a:ext cx="57300" cy="971700"/>
              </a:xfrm>
              <a:prstGeom prst="roundRect">
                <a:avLst>
                  <a:gd fmla="val 50000" name="adj"/>
                </a:avLst>
              </a:prstGeom>
              <a:solidFill>
                <a:srgbClr val="2F855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4"/>
              <p:cNvSpPr txBox="1"/>
              <p:nvPr/>
            </p:nvSpPr>
            <p:spPr>
              <a:xfrm>
                <a:off x="190500" y="0"/>
                <a:ext cx="5067300" cy="97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95250" lIns="0" spcFirstLastPara="1" rIns="0" wrap="square" tIns="9525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200">
                    <a:solidFill>
                      <a:srgbClr val="1E293B"/>
                    </a:solidFill>
                    <a:latin typeface="Inter"/>
                    <a:ea typeface="Inter"/>
                    <a:cs typeface="Inter"/>
                    <a:sym typeface="Inter"/>
                  </a:rPr>
                  <a:t>TABLA PRINCIPAL PROPIA</a:t>
                </a:r>
                <a:endParaRPr b="1" sz="1200">
                  <a:solidFill>
                    <a:srgbClr val="1E293B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105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Rotación de la aeronave deducida mediante TAIL_NUM + ajuste de husos horarios.</a:t>
                </a:r>
                <a:endParaRPr sz="105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sp>
        <p:nvSpPr>
          <p:cNvPr id="169" name="Google Shape;169;p4"/>
          <p:cNvSpPr txBox="1"/>
          <p:nvPr/>
        </p:nvSpPr>
        <p:spPr>
          <a:xfrm>
            <a:off x="571500" y="6429375"/>
            <a:ext cx="5715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Proyecto final · Machine Learning · Universidad EIA</a:t>
            </a:r>
            <a:endParaRPr sz="10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70" name="Google Shape;170;p4"/>
          <p:cNvSpPr txBox="1"/>
          <p:nvPr/>
        </p:nvSpPr>
        <p:spPr>
          <a:xfrm>
            <a:off x="10477500" y="6429375"/>
            <a:ext cx="1143000" cy="266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4 / 14</a:t>
            </a:r>
            <a:endParaRPr sz="1000">
              <a:solidFill>
                <a:srgbClr val="64748B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5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4 · La tabla principal la armamos nosotros</a:t>
            </a:r>
            <a:endParaRPr/>
          </a:p>
        </p:txBody>
      </p:sp>
      <p:sp>
        <p:nvSpPr>
          <p:cNvPr id="178" name="Google Shape;178;p5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Rotación de la aeronave: NO viene en los datos. Se deduce ordenando por TAIL_NUM y reconstruyendo husos.</a:t>
            </a:r>
            <a:endParaRPr/>
          </a:p>
        </p:txBody>
      </p:sp>
      <p:sp>
        <p:nvSpPr>
          <p:cNvPr id="179" name="Google Shape;179;p5"/>
          <p:cNvSpPr txBox="1"/>
          <p:nvPr/>
        </p:nvSpPr>
        <p:spPr>
          <a:xfrm>
            <a:off x="600000" y="17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Variables construidas (criterio «complejidad» de la rúbrica)</a:t>
            </a:r>
            <a:endParaRPr/>
          </a:p>
        </p:txBody>
      </p:sp>
      <p:graphicFrame>
        <p:nvGraphicFramePr>
          <p:cNvPr id="180" name="Google Shape;180;p5"/>
          <p:cNvGraphicFramePr/>
          <p:nvPr/>
        </p:nvGraphicFramePr>
        <p:xfrm>
          <a:off x="600000" y="2200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{893E14B0-F56B-4F5A-AFEA-78C6A365C949}</a:tableStyleId>
              </a:tblPr>
              <a:tblGrid>
                <a:gridCol w="2600825"/>
                <a:gridCol w="3797375"/>
                <a:gridCol w="5029500"/>
              </a:tblGrid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Variable nueva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Qué mide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Fuente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ret_prev_llegada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Retraso real del tramo anterior del mismo avión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Shift por TAIL_NUM + ARR_DELAY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prev_disponible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Bandera: ¿el inbound ya aterrizó antes de esta salida programada?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Comparar arr_real_prev vs dep_min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holgura_prog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Minutos entre llegada programada previa y salida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Diferencia de horarios programados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tramo_del_dia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Número de tramo que lleva la aeronave ese día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Cumcount por (TAIL_NUM, día)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vuelos_origen_hora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Congestión programada del aeropuerto de origen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Group by (ORIGIN, hora programada)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vuelos_destino_hora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Congestión programada del aeropuerto de destino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Group by (DEST, hora programada)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4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dias_a_festivo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Días al festivo federal más cercano (vísperas saturan)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USFederalHolidayCalendar + searchsorted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1" name="Google Shape;181;p5"/>
          <p:cNvSpPr txBox="1"/>
          <p:nvPr/>
        </p:nvSpPr>
        <p:spPr>
          <a:xfrm>
            <a:off x="600000" y="55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F855A"/>
                </a:solidFill>
                <a:latin typeface="Calibri"/>
                <a:ea typeface="Calibri"/>
                <a:cs typeface="Calibri"/>
                <a:sym typeface="Calibri"/>
              </a:rPr>
              <a:t>Anti-fuga en la construcción</a:t>
            </a:r>
            <a:endParaRPr/>
          </a:p>
        </p:txBody>
      </p:sp>
      <p:sp>
        <p:nvSpPr>
          <p:cNvPr id="182" name="Google Shape;182;p5"/>
          <p:cNvSpPr txBox="1"/>
          <p:nvPr/>
        </p:nvSpPr>
        <p:spPr>
          <a:xfrm>
            <a:off x="600000" y="5950000"/>
            <a:ext cx="10409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ret_prev_llegada solo se llena SI real_prev ≤ dep_min (el inbound ya aterrizó antes de ESTA salida programada).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vuelos_*_hora cuenta sobre vuelos PROGRAMADOS, no operados (las cancelaciones no se conocen de antemano).</a:t>
            </a:r>
            <a:endParaRPr/>
          </a:p>
        </p:txBody>
      </p:sp>
      <p:sp>
        <p:nvSpPr>
          <p:cNvPr id="183" name="Google Shape;183;p5"/>
          <p:cNvSpPr txBox="1"/>
          <p:nvPr/>
        </p:nvSpPr>
        <p:spPr>
          <a:xfrm>
            <a:off x="600000" y="6506145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184" name="Google Shape;184;p5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5 / 14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6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6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5 · Limpieza (paso 3) — bitácora con conteos reales</a:t>
            </a:r>
            <a:endParaRPr/>
          </a:p>
        </p:txBody>
      </p:sp>
      <p:sp>
        <p:nvSpPr>
          <p:cNvPr id="192" name="Google Shape;192;p6"/>
          <p:cNvSpPr txBox="1"/>
          <p:nvPr/>
        </p:nvSpPr>
        <p:spPr>
          <a:xfrm>
            <a:off x="600000" y="11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Regla del paso: aquí solo se arregla lo OBJETIVO. Nada que se APRENDA se hace aquí (va dentro del Pipeline).</a:t>
            </a:r>
            <a:endParaRPr/>
          </a:p>
        </p:txBody>
      </p:sp>
      <p:graphicFrame>
        <p:nvGraphicFramePr>
          <p:cNvPr id="193" name="Google Shape;193;p6"/>
          <p:cNvGraphicFramePr/>
          <p:nvPr/>
        </p:nvGraphicFramePr>
        <p:xfrm>
          <a:off x="600000" y="1700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{893E14B0-F56B-4F5A-AFEA-78C6A365C949}</a:tableStyleId>
              </a:tblPr>
              <a:tblGrid>
                <a:gridCol w="2842325"/>
                <a:gridCol w="1943275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Concepto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Filas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Universo crudo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7.786.702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Cancelados (CANCELLED=1)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145.007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Desviados (DIVERTED=1)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21.637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Sin etiqueta ARR_DEL15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166.647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Operados CON etiqueta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7.620.055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Duplicados exactos (llave de 7 campos)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Itinerarios imposibles (sin hora/duración/distancia)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Coherencia ARR_DEL15 vs (ARR_DELAY ≥ 15)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100,00 %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Tasa de retraso en la tabla de modelado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22,44 %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4" name="Google Shape;194;p6"/>
          <p:cNvSpPr txBox="1"/>
          <p:nvPr/>
        </p:nvSpPr>
        <p:spPr>
          <a:xfrm>
            <a:off x="6357425" y="1700000"/>
            <a:ext cx="5000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Decisiones justificadas</a:t>
            </a:r>
            <a:endParaRPr/>
          </a:p>
        </p:txBody>
      </p:sp>
      <p:sp>
        <p:nvSpPr>
          <p:cNvPr id="195" name="Google Shape;195;p6"/>
          <p:cNvSpPr txBox="1"/>
          <p:nvPr/>
        </p:nvSpPr>
        <p:spPr>
          <a:xfrm>
            <a:off x="6357375" y="2150000"/>
            <a:ext cx="5000100" cy="118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Cancelados y desviados: NO SE IMPUTAN. Se marcan con tiene_etiqueta=0 y se filtran al final del paso 4.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Imputar la etiqueta sería inventar un retraso falso. Peor aún: imputar ARR_DELAY le inventa una hora de aterrizaje al tramo anterior.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Pero sus horarios SÍ cuentan para la congestión y la rotación hasta el final del paso 4.</a:t>
            </a:r>
            <a:endParaRPr/>
          </a:p>
        </p:txBody>
      </p:sp>
      <p:sp>
        <p:nvSpPr>
          <p:cNvPr id="196" name="Google Shape;196;p6"/>
          <p:cNvSpPr txBox="1"/>
          <p:nvPr/>
        </p:nvSpPr>
        <p:spPr>
          <a:xfrm>
            <a:off x="188050" y="64580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197" name="Google Shape;197;p6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6 / 14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h2f74e1468e701ad9_0_7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3" name="Google Shape;203;h2f74e1468e701ad9_0_717"/>
          <p:cNvGrpSpPr/>
          <p:nvPr/>
        </p:nvGrpSpPr>
        <p:grpSpPr>
          <a:xfrm>
            <a:off x="571500" y="259080"/>
            <a:ext cx="6428100" cy="699510"/>
            <a:chOff x="0" y="-198120"/>
            <a:chExt cx="6428100" cy="699510"/>
          </a:xfrm>
        </p:grpSpPr>
        <p:sp>
          <p:nvSpPr>
            <p:cNvPr id="204" name="Google Shape;204;h2f74e1468e701ad9_0_717"/>
            <p:cNvSpPr txBox="1"/>
            <p:nvPr/>
          </p:nvSpPr>
          <p:spPr>
            <a:xfrm>
              <a:off x="0" y="-198120"/>
              <a:ext cx="4744500" cy="400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950">
                  <a:solidFill>
                    <a:srgbClr val="1E293B"/>
                  </a:solidFill>
                  <a:latin typeface="Inter ExtraBold"/>
                  <a:ea typeface="Inter ExtraBold"/>
                  <a:cs typeface="Inter ExtraBold"/>
                  <a:sym typeface="Inter ExtraBold"/>
                </a:rPr>
                <a:t>6 · Prevención de Fuga de Datos</a:t>
              </a:r>
              <a:endParaRPr b="0" sz="1950">
                <a:solidFill>
                  <a:srgbClr val="1E293B"/>
                </a:solidFill>
                <a:latin typeface="Inter ExtraBold"/>
                <a:ea typeface="Inter ExtraBold"/>
                <a:cs typeface="Inter ExtraBold"/>
                <a:sym typeface="Inter ExtraBold"/>
              </a:endParaRPr>
            </a:p>
          </p:txBody>
        </p:sp>
        <p:sp>
          <p:nvSpPr>
            <p:cNvPr id="205" name="Google Shape;205;h2f74e1468e701ad9_0_717"/>
            <p:cNvSpPr txBox="1"/>
            <p:nvPr/>
          </p:nvSpPr>
          <p:spPr>
            <a:xfrm>
              <a:off x="0" y="300990"/>
              <a:ext cx="6428100" cy="200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975">
                  <a:solidFill>
                    <a:srgbClr val="64748B"/>
                  </a:solidFill>
                  <a:latin typeface="Inter Medium"/>
                  <a:ea typeface="Inter Medium"/>
                  <a:cs typeface="Inter Medium"/>
                  <a:sym typeface="Inter Medium"/>
                </a:rPr>
                <a:t>Estrategia multi-capa: 3 barreras de protección + assert defensivo + prueba empírica</a:t>
              </a:r>
              <a:endParaRPr b="0" sz="975">
                <a:solidFill>
                  <a:srgbClr val="64748B"/>
                </a:solidFill>
                <a:latin typeface="Inter Medium"/>
                <a:ea typeface="Inter Medium"/>
                <a:cs typeface="Inter Medium"/>
                <a:sym typeface="Inter Medium"/>
              </a:endParaRPr>
            </a:p>
          </p:txBody>
        </p:sp>
      </p:grpSp>
      <p:grpSp>
        <p:nvGrpSpPr>
          <p:cNvPr id="206" name="Google Shape;206;h2f74e1468e701ad9_0_717"/>
          <p:cNvGrpSpPr/>
          <p:nvPr/>
        </p:nvGrpSpPr>
        <p:grpSpPr>
          <a:xfrm>
            <a:off x="471488" y="1271588"/>
            <a:ext cx="11172900" cy="2262300"/>
            <a:chOff x="-100012" y="-61912"/>
            <a:chExt cx="11172900" cy="2262300"/>
          </a:xfrm>
        </p:grpSpPr>
        <p:grpSp>
          <p:nvGrpSpPr>
            <p:cNvPr id="207" name="Google Shape;207;h2f74e1468e701ad9_0_717"/>
            <p:cNvGrpSpPr/>
            <p:nvPr/>
          </p:nvGrpSpPr>
          <p:grpSpPr>
            <a:xfrm>
              <a:off x="-100012" y="-61912"/>
              <a:ext cx="3667200" cy="2262300"/>
              <a:chOff x="-100012" y="-61912"/>
              <a:chExt cx="3667200" cy="2262300"/>
            </a:xfrm>
          </p:grpSpPr>
          <p:pic>
            <p:nvPicPr>
              <p:cNvPr id="208" name="Google Shape;208;h2f74e1468e701ad9_0_717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100012" y="-61912"/>
                <a:ext cx="3667200" cy="22623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09" name="Google Shape;209;h2f74e1468e701ad9_0_717"/>
              <p:cNvSpPr/>
              <p:nvPr/>
            </p:nvSpPr>
            <p:spPr>
              <a:xfrm>
                <a:off x="0" y="0"/>
                <a:ext cx="34671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2563E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h2f74e1468e701ad9_0_717"/>
              <p:cNvSpPr/>
              <p:nvPr/>
            </p:nvSpPr>
            <p:spPr>
              <a:xfrm>
                <a:off x="190500" y="209550"/>
                <a:ext cx="304800" cy="304800"/>
              </a:xfrm>
              <a:prstGeom prst="ellipse">
                <a:avLst/>
              </a:prstGeom>
              <a:solidFill>
                <a:srgbClr val="EFF6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h2f74e1468e701ad9_0_717"/>
              <p:cNvSpPr txBox="1"/>
              <p:nvPr/>
            </p:nvSpPr>
            <p:spPr>
              <a:xfrm>
                <a:off x="310525" y="278130"/>
                <a:ext cx="64800" cy="169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763">
                    <a:solidFill>
                      <a:srgbClr val="2563EB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1</a:t>
                </a:r>
                <a:endParaRPr b="0" sz="763">
                  <a:solidFill>
                    <a:srgbClr val="2563EB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212" name="Google Shape;212;h2f74e1468e701ad9_0_717"/>
              <p:cNvSpPr txBox="1"/>
              <p:nvPr/>
            </p:nvSpPr>
            <p:spPr>
              <a:xfrm>
                <a:off x="609600" y="266700"/>
                <a:ext cx="2667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00">
                    <a:solidFill>
                      <a:srgbClr val="1E3A8A"/>
                    </a:solidFill>
                    <a:latin typeface="Inter"/>
                    <a:ea typeface="Inter"/>
                    <a:cs typeface="Inter"/>
                    <a:sym typeface="Inter"/>
                  </a:rPr>
                  <a:t>BARRERA 1 · LECTURA</a:t>
                </a:r>
                <a:endParaRPr/>
              </a:p>
            </p:txBody>
          </p:sp>
          <p:cxnSp>
            <p:nvCxnSpPr>
              <p:cNvPr id="213" name="Google Shape;213;h2f74e1468e701ad9_0_717"/>
              <p:cNvCxnSpPr/>
              <p:nvPr/>
            </p:nvCxnSpPr>
            <p:spPr>
              <a:xfrm>
                <a:off x="190500" y="609600"/>
                <a:ext cx="30861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9525">
                <a:solidFill>
                  <a:srgbClr val="F1F5F9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14" name="Google Shape;214;h2f74e1468e701ad9_0_717"/>
              <p:cNvSpPr txBox="1"/>
              <p:nvPr/>
            </p:nvSpPr>
            <p:spPr>
              <a:xfrm>
                <a:off x="190500" y="742950"/>
                <a:ext cx="3086100" cy="1200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Filtrado estricto en la fuente.</a:t>
                </a:r>
                <a:b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b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b="0" lang="en-US" sz="1000">
                    <a:solidFill>
                      <a:srgbClr val="2563EB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cfg.COLS_CRUDAS</a:t>
                </a:r>
                <a: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descarta columnas no autorizadas al LEER el CSV. Lo no listado jamás se carga en memoria.</a:t>
                </a:r>
                <a:endParaRPr b="0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15" name="Google Shape;215;h2f74e1468e701ad9_0_717"/>
            <p:cNvGrpSpPr/>
            <p:nvPr/>
          </p:nvGrpSpPr>
          <p:grpSpPr>
            <a:xfrm>
              <a:off x="3652838" y="-61912"/>
              <a:ext cx="3667200" cy="2262300"/>
              <a:chOff x="-100012" y="-61912"/>
              <a:chExt cx="3667200" cy="2262300"/>
            </a:xfrm>
          </p:grpSpPr>
          <p:pic>
            <p:nvPicPr>
              <p:cNvPr id="216" name="Google Shape;216;h2f74e1468e701ad9_0_717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100012" y="-61912"/>
                <a:ext cx="3667200" cy="22623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17" name="Google Shape;217;h2f74e1468e701ad9_0_717"/>
              <p:cNvSpPr/>
              <p:nvPr/>
            </p:nvSpPr>
            <p:spPr>
              <a:xfrm>
                <a:off x="0" y="0"/>
                <a:ext cx="34671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0284C7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h2f74e1468e701ad9_0_717"/>
              <p:cNvSpPr/>
              <p:nvPr/>
            </p:nvSpPr>
            <p:spPr>
              <a:xfrm>
                <a:off x="190500" y="209550"/>
                <a:ext cx="304800" cy="304800"/>
              </a:xfrm>
              <a:prstGeom prst="ellipse">
                <a:avLst/>
              </a:prstGeom>
              <a:solidFill>
                <a:srgbClr val="F0F9FF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9" name="Google Shape;219;h2f74e1468e701ad9_0_717"/>
              <p:cNvSpPr txBox="1"/>
              <p:nvPr/>
            </p:nvSpPr>
            <p:spPr>
              <a:xfrm>
                <a:off x="310525" y="278130"/>
                <a:ext cx="64800" cy="169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763">
                    <a:solidFill>
                      <a:srgbClr val="0284C7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2</a:t>
                </a:r>
                <a:endParaRPr b="0" sz="763">
                  <a:solidFill>
                    <a:srgbClr val="0284C7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220" name="Google Shape;220;h2f74e1468e701ad9_0_717"/>
              <p:cNvSpPr txBox="1"/>
              <p:nvPr/>
            </p:nvSpPr>
            <p:spPr>
              <a:xfrm>
                <a:off x="609600" y="266700"/>
                <a:ext cx="2667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00">
                    <a:solidFill>
                      <a:srgbClr val="0C4A6E"/>
                    </a:solidFill>
                    <a:latin typeface="Inter"/>
                    <a:ea typeface="Inter"/>
                    <a:cs typeface="Inter"/>
                    <a:sym typeface="Inter"/>
                  </a:rPr>
                  <a:t>BARRERA 2 · CONSTRUCCIÓN</a:t>
                </a:r>
                <a:endParaRPr/>
              </a:p>
            </p:txBody>
          </p:sp>
          <p:cxnSp>
            <p:nvCxnSpPr>
              <p:cNvPr id="221" name="Google Shape;221;h2f74e1468e701ad9_0_717"/>
              <p:cNvCxnSpPr/>
              <p:nvPr/>
            </p:nvCxnSpPr>
            <p:spPr>
              <a:xfrm>
                <a:off x="190500" y="609600"/>
                <a:ext cx="30861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9525">
                <a:solidFill>
                  <a:srgbClr val="F1F5F9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22" name="Google Shape;222;h2f74e1468e701ad9_0_717"/>
              <p:cNvSpPr txBox="1"/>
              <p:nvPr/>
            </p:nvSpPr>
            <p:spPr>
              <a:xfrm>
                <a:off x="190500" y="742950"/>
                <a:ext cx="3086100" cy="1200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Aislamiento temporal de variables.</a:t>
                </a:r>
                <a:b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b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b="0" lang="en-US" sz="1000">
                    <a:solidFill>
                      <a:srgbClr val="0284C7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ret_prev_llegada</a:t>
                </a:r>
                <a: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solo se calcula si el inbound aterrizó antes de la salida programada. Congestión sobre PROGRAMADOS.</a:t>
                </a:r>
                <a:endParaRPr b="0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23" name="Google Shape;223;h2f74e1468e701ad9_0_717"/>
            <p:cNvGrpSpPr/>
            <p:nvPr/>
          </p:nvGrpSpPr>
          <p:grpSpPr>
            <a:xfrm>
              <a:off x="7405688" y="-61912"/>
              <a:ext cx="3667200" cy="2262300"/>
              <a:chOff x="-100012" y="-61912"/>
              <a:chExt cx="3667200" cy="2262300"/>
            </a:xfrm>
          </p:grpSpPr>
          <p:pic>
            <p:nvPicPr>
              <p:cNvPr id="224" name="Google Shape;224;h2f74e1468e701ad9_0_717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-100012" y="-61912"/>
                <a:ext cx="3667200" cy="2262300"/>
              </a:xfrm>
              <a:prstGeom prst="rect">
                <a:avLst/>
              </a:prstGeom>
              <a:noFill/>
              <a:ln>
                <a:noFill/>
              </a:ln>
            </p:spPr>
          </p:pic>
          <p:sp>
            <p:nvSpPr>
              <p:cNvPr id="225" name="Google Shape;225;h2f74e1468e701ad9_0_717"/>
              <p:cNvSpPr/>
              <p:nvPr/>
            </p:nvSpPr>
            <p:spPr>
              <a:xfrm>
                <a:off x="0" y="0"/>
                <a:ext cx="3467100" cy="57300"/>
              </a:xfrm>
              <a:prstGeom prst="roundRect">
                <a:avLst>
                  <a:gd fmla="val 50000" name="adj"/>
                </a:avLst>
              </a:prstGeom>
              <a:solidFill>
                <a:srgbClr val="0D9488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h2f74e1468e701ad9_0_717"/>
              <p:cNvSpPr/>
              <p:nvPr/>
            </p:nvSpPr>
            <p:spPr>
              <a:xfrm>
                <a:off x="190500" y="209550"/>
                <a:ext cx="304800" cy="304800"/>
              </a:xfrm>
              <a:prstGeom prst="ellipse">
                <a:avLst/>
              </a:prstGeom>
              <a:solidFill>
                <a:srgbClr val="CCFBF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h2f74e1468e701ad9_0_717"/>
              <p:cNvSpPr txBox="1"/>
              <p:nvPr/>
            </p:nvSpPr>
            <p:spPr>
              <a:xfrm>
                <a:off x="310525" y="278130"/>
                <a:ext cx="64800" cy="169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763">
                    <a:solidFill>
                      <a:srgbClr val="0D9488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3</a:t>
                </a:r>
                <a:endParaRPr b="0" sz="763">
                  <a:solidFill>
                    <a:srgbClr val="0D9488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</p:txBody>
          </p:sp>
          <p:sp>
            <p:nvSpPr>
              <p:cNvPr id="228" name="Google Shape;228;h2f74e1468e701ad9_0_717"/>
              <p:cNvSpPr txBox="1"/>
              <p:nvPr/>
            </p:nvSpPr>
            <p:spPr>
              <a:xfrm>
                <a:off x="609600" y="266700"/>
                <a:ext cx="2667000" cy="228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100">
                    <a:solidFill>
                      <a:srgbClr val="115E59"/>
                    </a:solidFill>
                    <a:latin typeface="Inter"/>
                    <a:ea typeface="Inter"/>
                    <a:cs typeface="Inter"/>
                    <a:sym typeface="Inter"/>
                  </a:rPr>
                  <a:t>BARRERA 3 · PIPELINE</a:t>
                </a:r>
                <a:endParaRPr/>
              </a:p>
            </p:txBody>
          </p:sp>
          <p:cxnSp>
            <p:nvCxnSpPr>
              <p:cNvPr id="229" name="Google Shape;229;h2f74e1468e701ad9_0_717"/>
              <p:cNvCxnSpPr/>
              <p:nvPr/>
            </p:nvCxnSpPr>
            <p:spPr>
              <a:xfrm>
                <a:off x="190500" y="609600"/>
                <a:ext cx="3086100" cy="0"/>
              </a:xfrm>
              <a:prstGeom prst="straightConnector1">
                <a:avLst/>
              </a:prstGeom>
              <a:solidFill>
                <a:srgbClr val="FFFFFF"/>
              </a:solidFill>
              <a:ln cap="flat" cmpd="sng" w="9525">
                <a:solidFill>
                  <a:srgbClr val="F1F5F9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30" name="Google Shape;230;h2f74e1468e701ad9_0_717"/>
              <p:cNvSpPr txBox="1"/>
              <p:nvPr/>
            </p:nvSpPr>
            <p:spPr>
              <a:xfrm>
                <a:off x="190500" y="742950"/>
                <a:ext cx="3086100" cy="1200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Encapsulamiento de transformaciones.</a:t>
                </a:r>
                <a:b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b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</a:br>
                <a: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Imputación, escalado y </a:t>
                </a:r>
                <a:r>
                  <a:rPr b="0" lang="en-US" sz="1000">
                    <a:solidFill>
                      <a:srgbClr val="0D9488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TargetEncoder</a:t>
                </a:r>
                <a: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DENTRO del Pipeline, reajustados por pliegue de </a:t>
                </a:r>
                <a:r>
                  <a:rPr b="0" lang="en-US" sz="1000">
                    <a:solidFill>
                      <a:srgbClr val="475569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TimeSeriesSplit</a:t>
                </a:r>
                <a: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.</a:t>
                </a:r>
                <a:endParaRPr b="0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231" name="Google Shape;231;h2f74e1468e701ad9_0_717"/>
          <p:cNvGrpSpPr/>
          <p:nvPr/>
        </p:nvGrpSpPr>
        <p:grpSpPr>
          <a:xfrm>
            <a:off x="571500" y="3638550"/>
            <a:ext cx="10972800" cy="685800"/>
            <a:chOff x="0" y="0"/>
            <a:chExt cx="10972800" cy="685800"/>
          </a:xfrm>
        </p:grpSpPr>
        <p:sp>
          <p:nvSpPr>
            <p:cNvPr id="232" name="Google Shape;232;h2f74e1468e701ad9_0_717"/>
            <p:cNvSpPr/>
            <p:nvPr/>
          </p:nvSpPr>
          <p:spPr>
            <a:xfrm>
              <a:off x="0" y="0"/>
              <a:ext cx="10972800" cy="685800"/>
            </a:xfrm>
            <a:prstGeom prst="roundRect">
              <a:avLst>
                <a:gd fmla="val 13888" name="adj"/>
              </a:avLst>
            </a:prstGeom>
            <a:solidFill>
              <a:srgbClr val="F0FDF4"/>
            </a:solidFill>
            <a:ln cap="flat" cmpd="sng" w="9525">
              <a:solidFill>
                <a:srgbClr val="DCFC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h2f74e1468e701ad9_0_717"/>
            <p:cNvSpPr/>
            <p:nvPr/>
          </p:nvSpPr>
          <p:spPr>
            <a:xfrm>
              <a:off x="0" y="0"/>
              <a:ext cx="57300" cy="685800"/>
            </a:xfrm>
            <a:prstGeom prst="roundRect">
              <a:avLst>
                <a:gd fmla="val 50000" name="adj"/>
              </a:avLst>
            </a:prstGeom>
            <a:solidFill>
              <a:srgbClr val="16A34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h2f74e1468e701ad9_0_717"/>
            <p:cNvSpPr/>
            <p:nvPr/>
          </p:nvSpPr>
          <p:spPr>
            <a:xfrm>
              <a:off x="304800" y="266700"/>
              <a:ext cx="228600" cy="152400"/>
            </a:xfrm>
            <a:custGeom>
              <a:rect b="b" l="l" r="r" t="t"/>
              <a:pathLst>
                <a:path extrusionOk="0" h="120000" w="120000">
                  <a:moveTo>
                    <a:pt x="0" y="60000"/>
                  </a:moveTo>
                  <a:lnTo>
                    <a:pt x="40000" y="120000"/>
                  </a:lnTo>
                  <a:lnTo>
                    <a:pt x="120000" y="0"/>
                  </a:lnTo>
                </a:path>
              </a:pathLst>
            </a:custGeom>
            <a:solidFill>
              <a:srgbClr val="000000">
                <a:alpha val="0"/>
              </a:srgbClr>
            </a:solidFill>
            <a:ln cap="rnd" cmpd="sng" w="28575">
              <a:solidFill>
                <a:srgbClr val="16A34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h2f74e1468e701ad9_0_717"/>
            <p:cNvSpPr txBox="1"/>
            <p:nvPr/>
          </p:nvSpPr>
          <p:spPr>
            <a:xfrm>
              <a:off x="666750" y="133350"/>
              <a:ext cx="100965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4532D"/>
                  </a:solidFill>
                  <a:latin typeface="Inter"/>
                  <a:ea typeface="Inter"/>
                  <a:cs typeface="Inter"/>
                  <a:sym typeface="Inter"/>
                </a:rPr>
                <a:t>+ ASSERT DEFENSIVO EN TIEMPO DE EJECUCIÓN</a:t>
              </a:r>
              <a:endParaRPr b="1" sz="1100">
                <a:solidFill>
                  <a:srgbClr val="14532D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15803D"/>
                  </a:solidFill>
                  <a:latin typeface="Fira Code SemiBold"/>
                  <a:ea typeface="Fira Code SemiBold"/>
                  <a:cs typeface="Fira Code SemiBold"/>
                  <a:sym typeface="Fira Code SemiBold"/>
                </a:rPr>
                <a:t>columnas.verificar_sin_fuga()</a:t>
              </a:r>
              <a:r>
                <a:rPr b="0" lang="en-US" sz="1100">
                  <a:solidFill>
                    <a:srgbClr val="166534"/>
                  </a:solidFill>
                  <a:latin typeface="Inter"/>
                  <a:ea typeface="Inter"/>
                  <a:cs typeface="Inter"/>
                  <a:sym typeface="Inter"/>
                </a:rPr>
                <a:t> aborta automáticamente el notebook si una columna prohibida intenta colarse entre las variables de entrenamiento.</a:t>
              </a:r>
              <a:endParaRPr b="0" sz="1100">
                <a:solidFill>
                  <a:srgbClr val="166534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36" name="Google Shape;236;h2f74e1468e701ad9_0_717"/>
          <p:cNvGrpSpPr/>
          <p:nvPr/>
        </p:nvGrpSpPr>
        <p:grpSpPr>
          <a:xfrm>
            <a:off x="471488" y="4505325"/>
            <a:ext cx="11172900" cy="1809600"/>
            <a:chOff x="-100012" y="-47625"/>
            <a:chExt cx="11172900" cy="1809600"/>
          </a:xfrm>
        </p:grpSpPr>
        <p:pic>
          <p:nvPicPr>
            <p:cNvPr id="237" name="Google Shape;237;h2f74e1468e701ad9_0_717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-100012" y="-47625"/>
              <a:ext cx="11172900" cy="18096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8" name="Google Shape;238;h2f74e1468e701ad9_0_717"/>
            <p:cNvSpPr/>
            <p:nvPr/>
          </p:nvSpPr>
          <p:spPr>
            <a:xfrm>
              <a:off x="0" y="0"/>
              <a:ext cx="57300" cy="1676400"/>
            </a:xfrm>
            <a:prstGeom prst="roundRect">
              <a:avLst>
                <a:gd fmla="val 50000" name="adj"/>
              </a:avLst>
            </a:prstGeom>
            <a:solidFill>
              <a:srgbClr val="EA580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239" name="Google Shape;239;h2f74e1468e701ad9_0_717"/>
            <p:cNvGrpSpPr/>
            <p:nvPr/>
          </p:nvGrpSpPr>
          <p:grpSpPr>
            <a:xfrm>
              <a:off x="304800" y="129540"/>
              <a:ext cx="6477000" cy="1280310"/>
              <a:chOff x="0" y="-99060"/>
              <a:chExt cx="6477000" cy="1280310"/>
            </a:xfrm>
          </p:grpSpPr>
          <p:sp>
            <p:nvSpPr>
              <p:cNvPr id="240" name="Google Shape;240;h2f74e1468e701ad9_0_717"/>
              <p:cNvSpPr txBox="1"/>
              <p:nvPr/>
            </p:nvSpPr>
            <p:spPr>
              <a:xfrm>
                <a:off x="0" y="-99060"/>
                <a:ext cx="3520200" cy="200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75">
                    <a:solidFill>
                      <a:srgbClr val="C2410C"/>
                    </a:solidFill>
                    <a:latin typeface="Inter"/>
                    <a:ea typeface="Inter"/>
                    <a:cs typeface="Inter"/>
                    <a:sym typeface="Inter"/>
                  </a:rPr>
                  <a:t>Demostración Empírica (Celda 4.4 del notebook)</a:t>
                </a:r>
                <a:endParaRPr b="1" sz="975">
                  <a:solidFill>
                    <a:srgbClr val="C2410C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  <p:sp>
            <p:nvSpPr>
              <p:cNvPr id="241" name="Google Shape;241;h2f74e1468e701ad9_0_717"/>
              <p:cNvSpPr txBox="1"/>
              <p:nvPr/>
            </p:nvSpPr>
            <p:spPr>
              <a:xfrm>
                <a:off x="0" y="323850"/>
                <a:ext cx="6477000" cy="857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Entrenamos un </a:t>
                </a:r>
                <a:r>
                  <a:rPr b="0" lang="en-US" sz="1000">
                    <a:solidFill>
                      <a:srgbClr val="EA580C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HistGradientBoosting</a:t>
                </a:r>
                <a: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evaluando el impacto directo con y sin la variable </a:t>
                </a:r>
                <a:r>
                  <a:rPr b="0" lang="en-US" sz="1000">
                    <a:solidFill>
                      <a:srgbClr val="EA580C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DEP_DELAY</a:t>
                </a:r>
                <a:r>
                  <a:rPr b="0" lang="en-US" sz="1100">
                    <a:solidFill>
                      <a:srgbClr val="475569"/>
                    </a:solidFill>
                    <a:latin typeface="Inter"/>
                    <a:ea typeface="Inter"/>
                    <a:cs typeface="Inter"/>
                    <a:sym typeface="Inter"/>
                  </a:rPr>
                  <a:t> (fuga típica, se mide al salir de puerta).</a:t>
                </a:r>
                <a:endParaRPr b="0" sz="1100">
                  <a:solidFill>
                    <a:srgbClr val="475569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100">
                    <a:solidFill>
                      <a:srgbClr val="1E293B"/>
                    </a:solidFill>
                    <a:latin typeface="Inter SemiBold"/>
                    <a:ea typeface="Inter SemiBold"/>
                    <a:cs typeface="Inter SemiBold"/>
                    <a:sym typeface="Inter SemiBold"/>
                  </a:rPr>
                  <a:t>El salto en el rendimiento representa la FIRMA DE LA FUGA: métricas irrealmente perfectas que no se pueden obtener en producción.</a:t>
                </a:r>
                <a:endParaRPr b="0" sz="1100">
                  <a:solidFill>
                    <a:srgbClr val="1E293B"/>
                  </a:solidFill>
                  <a:latin typeface="Inter SemiBold"/>
                  <a:ea typeface="Inter SemiBold"/>
                  <a:cs typeface="Inter SemiBold"/>
                  <a:sym typeface="Inter SemiBold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0" lang="en-US" sz="100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Ejemplo canónico de la rúbrica: </a:t>
                </a:r>
                <a:r>
                  <a:rPr b="0" lang="en-US" sz="1000">
                    <a:solidFill>
                      <a:srgbClr val="64748B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sesión 6 · seguros · decision_renovacion → AUC 1,000</a:t>
                </a:r>
                <a:r>
                  <a:rPr b="0" lang="en-US" sz="1000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.</a:t>
                </a:r>
                <a:endParaRPr b="0" sz="100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242" name="Google Shape;242;h2f74e1468e701ad9_0_717"/>
            <p:cNvGrpSpPr/>
            <p:nvPr/>
          </p:nvGrpSpPr>
          <p:grpSpPr>
            <a:xfrm>
              <a:off x="7239000" y="228600"/>
              <a:ext cx="3429000" cy="1219200"/>
              <a:chOff x="0" y="0"/>
              <a:chExt cx="3429000" cy="1219200"/>
            </a:xfrm>
          </p:grpSpPr>
          <p:sp>
            <p:nvSpPr>
              <p:cNvPr id="243" name="Google Shape;243;h2f74e1468e701ad9_0_717"/>
              <p:cNvSpPr/>
              <p:nvPr/>
            </p:nvSpPr>
            <p:spPr>
              <a:xfrm>
                <a:off x="0" y="0"/>
                <a:ext cx="3429000" cy="1219200"/>
              </a:xfrm>
              <a:prstGeom prst="roundRect">
                <a:avLst>
                  <a:gd fmla="val 6250" name="adj"/>
                </a:avLst>
              </a:prstGeom>
              <a:solidFill>
                <a:srgbClr val="FFF7ED"/>
              </a:solidFill>
              <a:ln cap="flat" cmpd="sng" w="9525">
                <a:solidFill>
                  <a:srgbClr val="FFEDD5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4" name="Google Shape;244;h2f74e1468e701ad9_0_717"/>
              <p:cNvSpPr txBox="1"/>
              <p:nvPr/>
            </p:nvSpPr>
            <p:spPr>
              <a:xfrm>
                <a:off x="190500" y="152400"/>
                <a:ext cx="304800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00">
                    <a:solidFill>
                      <a:srgbClr val="C2410C"/>
                    </a:solidFill>
                    <a:latin typeface="Inter"/>
                    <a:ea typeface="Inter"/>
                    <a:cs typeface="Inter"/>
                    <a:sym typeface="Inter"/>
                  </a:rPr>
                  <a:t>EFECTO DE LA FUGA (DEP_DELAY)</a:t>
                </a:r>
                <a:endParaRPr b="1" sz="900">
                  <a:solidFill>
                    <a:srgbClr val="C2410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indent="0" lvl="0" marL="0" rtl="0" algn="ctr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2800">
                    <a:solidFill>
                      <a:srgbClr val="EA580C"/>
                    </a:solidFill>
                    <a:latin typeface="Inter ExtraBold"/>
                    <a:ea typeface="Inter ExtraBold"/>
                    <a:cs typeface="Inter ExtraBold"/>
                    <a:sym typeface="Inter ExtraBold"/>
                  </a:rPr>
                  <a:t>AUC 1.000</a:t>
                </a:r>
                <a:endParaRPr b="0" sz="2800">
                  <a:solidFill>
                    <a:srgbClr val="EA580C"/>
                  </a:solidFill>
                  <a:latin typeface="Inter ExtraBold"/>
                  <a:ea typeface="Inter ExtraBold"/>
                  <a:cs typeface="Inter ExtraBold"/>
                  <a:sym typeface="Inter ExtraBold"/>
                </a:endParaRPr>
              </a:p>
              <a:p>
                <a:pPr indent="0" lvl="0" marL="0" rtl="0" algn="ctr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b="0" lang="en-US" sz="900">
                    <a:solidFill>
                      <a:srgbClr val="9A3412"/>
                    </a:solidFill>
                    <a:latin typeface="Inter Medium"/>
                    <a:ea typeface="Inter Medium"/>
                    <a:cs typeface="Inter Medium"/>
                    <a:sym typeface="Inter Medium"/>
                  </a:rPr>
                  <a:t>Métrica irreal / Inalcanzable en producción</a:t>
                </a:r>
                <a:endParaRPr b="0" sz="900">
                  <a:solidFill>
                    <a:srgbClr val="9A3412"/>
                  </a:solidFill>
                  <a:latin typeface="Inter Medium"/>
                  <a:ea typeface="Inter Medium"/>
                  <a:cs typeface="Inter Medium"/>
                  <a:sym typeface="Inter Medium"/>
                </a:endParaRPr>
              </a:p>
            </p:txBody>
          </p:sp>
        </p:grpSp>
      </p:grpSp>
      <p:sp>
        <p:nvSpPr>
          <p:cNvPr id="245" name="Google Shape;245;h2f74e1468e701ad9_0_717"/>
          <p:cNvSpPr txBox="1"/>
          <p:nvPr/>
        </p:nvSpPr>
        <p:spPr>
          <a:xfrm>
            <a:off x="571500" y="6408420"/>
            <a:ext cx="2701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675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Proyecto final · Machine Learning · Universidad EIA</a:t>
            </a:r>
            <a:endParaRPr b="0" sz="675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8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7 · Faltantes — experimento controlado (4 imputadores)</a:t>
            </a:r>
            <a:endParaRPr/>
          </a:p>
        </p:txBody>
      </p:sp>
      <p:sp>
        <p:nvSpPr>
          <p:cNvPr id="253" name="Google Shape;253;p8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Variable con faltantes: ret_prev_llegada (no hay tramo anterior o el inbound aún no aterrizó).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Faltante NO aleatorio → se conserva la bandera prev_disponible (2.ª variable más importante del modelo).</a:t>
            </a:r>
            <a:endParaRPr/>
          </a:p>
        </p:txBody>
      </p:sp>
      <p:sp>
        <p:nvSpPr>
          <p:cNvPr id="254" name="Google Shape;254;p8"/>
          <p:cNvSpPr txBox="1"/>
          <p:nvPr/>
        </p:nvSpPr>
        <p:spPr>
          <a:xfrm>
            <a:off x="600000" y="21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60.000 filas, se oculta el 25 % y se mide el MAE (minutos)</a:t>
            </a:r>
            <a:endParaRPr/>
          </a:p>
        </p:txBody>
      </p:sp>
      <p:graphicFrame>
        <p:nvGraphicFramePr>
          <p:cNvPr id="255" name="Google Shape;255;p8"/>
          <p:cNvGraphicFramePr/>
          <p:nvPr/>
        </p:nvGraphicFramePr>
        <p:xfrm>
          <a:off x="600000" y="2600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{893E14B0-F56B-4F5A-AFEA-78C6A365C949}</a:tableStyleId>
              </a:tblPr>
              <a:tblGrid>
                <a:gridCol w="2428175"/>
                <a:gridCol w="3639125"/>
                <a:gridCol w="5273350"/>
              </a:tblGrid>
              <a:tr h="38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Método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MAE (min)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Observación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Mediana por hora de salida ★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18,44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Mejor del experimento, por poco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Mediana global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18,57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Pierde solo 0,13 min → más simple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Regresión (HistGradientBoosting)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19,94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Peor que la mediana (overfit del regresor)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8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Media global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20,25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Línea base: desviación típica = 71,76 min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56" name="Google Shape;256;p8"/>
          <p:cNvSpPr txBox="1"/>
          <p:nvPr/>
        </p:nvSpPr>
        <p:spPr>
          <a:xfrm>
            <a:off x="600000" y="47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F855A"/>
                </a:solidFill>
                <a:latin typeface="Calibri"/>
                <a:ea typeface="Calibri"/>
                <a:cs typeface="Calibri"/>
                <a:sym typeface="Calibri"/>
              </a:rPr>
              <a:t>Decisión y por qué</a:t>
            </a:r>
            <a:endParaRPr/>
          </a:p>
        </p:txBody>
      </p:sp>
      <p:sp>
        <p:nvSpPr>
          <p:cNvPr id="257" name="Google Shape;257;p8"/>
          <p:cNvSpPr txBox="1"/>
          <p:nvPr/>
        </p:nvSpPr>
        <p:spPr>
          <a:xfrm>
            <a:off x="600000" y="5150000"/>
            <a:ext cx="12000000" cy="1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El Pipeline del paso 5 usa SimpleImputer(strategy='median'), REAJUSTADO EN CADA PLIEGUE.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La mediana por hora gana por 0,13 min; la mediana global es casi igual y más simple.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El experimento sirve para ARGUMENTAR la decisión (igual que la edad en Titanic: 11,3 → 9,4 → 8,8 años).</a:t>
            </a:r>
            <a:endParaRPr/>
          </a:p>
        </p:txBody>
      </p:sp>
      <p:sp>
        <p:nvSpPr>
          <p:cNvPr id="258" name="Google Shape;258;p8"/>
          <p:cNvSpPr txBox="1"/>
          <p:nvPr/>
        </p:nvSpPr>
        <p:spPr>
          <a:xfrm>
            <a:off x="262700" y="64580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259" name="Google Shape;259;p8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8 / 14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9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8 · Modelos — 8 familias con la misma vara</a:t>
            </a:r>
            <a:endParaRPr/>
          </a:p>
        </p:txBody>
      </p:sp>
      <p:sp>
        <p:nvSpPr>
          <p:cNvPr id="267" name="Google Shape;267;p9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Mismos pliegues, mismo Pipeline, mismos datos. KNN y SVM-kernel se descartan (costo cuadrático con cientos de miles de filas).</a:t>
            </a:r>
            <a:endParaRPr/>
          </a:p>
        </p:txBody>
      </p:sp>
      <p:graphicFrame>
        <p:nvGraphicFramePr>
          <p:cNvPr id="268" name="Google Shape;268;p9"/>
          <p:cNvGraphicFramePr/>
          <p:nvPr/>
        </p:nvGraphicFramePr>
        <p:xfrm>
          <a:off x="600000" y="1700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{893E14B0-F56B-4F5A-AFEA-78C6A365C949}</a:tableStyleId>
              </a:tblPr>
              <a:tblGrid>
                <a:gridCol w="2268550"/>
                <a:gridCol w="3965275"/>
                <a:gridCol w="5131725"/>
              </a:tblGrid>
              <a:tr h="3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Familia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Referencia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Línea base (DummyClassifier)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Siempre predice la clase mayoritaria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Referencia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Regla a mano (ReglaManual, BaseEstimator)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Calibrada con entrenamiento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Lineal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Regresión logística (liblinear + StandardScaler)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Interpretable, rápida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Árbol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Árbol de decisión (max_depth=8)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Partición no lineal explicable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Ensamble bagging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 (n_estimators=100)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Robusto, con importancias nativas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Ensamble boosting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HistGradientBoosting (nativo sklearn)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Rápido, maneja faltantes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Red neuronal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 (hidden_layer_sizes=(64,32))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lineal con escalado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Ensamble boosting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 (opcional)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Benchmark de la industria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9" name="Google Shape;269;p9"/>
          <p:cNvSpPr txBox="1"/>
          <p:nvPr/>
        </p:nvSpPr>
        <p:spPr>
          <a:xfrm>
            <a:off x="600000" y="50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F855A"/>
                </a:solidFill>
                <a:latin typeface="Calibri"/>
                <a:ea typeface="Calibri"/>
                <a:cs typeface="Calibri"/>
                <a:sym typeface="Calibri"/>
              </a:rPr>
              <a:t>Partición y validación</a:t>
            </a:r>
            <a:endParaRPr/>
          </a:p>
        </p:txBody>
      </p:sp>
      <p:sp>
        <p:nvSpPr>
          <p:cNvPr id="270" name="Google Shape;270;p9"/>
          <p:cNvSpPr txBox="1"/>
          <p:nvPr/>
        </p:nvSpPr>
        <p:spPr>
          <a:xfrm>
            <a:off x="600000" y="5450000"/>
            <a:ext cx="12000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Prueba final = último 15 % del calendario (corte: 9 de abril de 2026). Se mira UNA SOLA VEZ.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Dentro del entrenamiento: TimeSeriesSplit de 3 pliegues (entrena pasado, valida futuro).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UMBRAL ≠ 0,50: se busca maximizando F1 en el ÚLTIMO pliegue de validación (nunca en la prueba).</a:t>
            </a:r>
            <a:endParaRPr/>
          </a:p>
        </p:txBody>
      </p:sp>
      <p:sp>
        <p:nvSpPr>
          <p:cNvPr id="271" name="Google Shape;271;p9"/>
          <p:cNvSpPr txBox="1"/>
          <p:nvPr/>
        </p:nvSpPr>
        <p:spPr>
          <a:xfrm>
            <a:off x="600000" y="63153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272" name="Google Shape;272;p9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9 / 14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0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9 · Comparación · validación cruzada (3 pliegues de 60k)</a:t>
            </a:r>
            <a:endParaRPr/>
          </a:p>
        </p:txBody>
      </p:sp>
      <p:graphicFrame>
        <p:nvGraphicFramePr>
          <p:cNvPr id="280" name="Google Shape;280;p10"/>
          <p:cNvGraphicFramePr/>
          <p:nvPr/>
        </p:nvGraphicFramePr>
        <p:xfrm>
          <a:off x="600000" y="1200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{893E14B0-F56B-4F5A-AFEA-78C6A365C949}</a:tableStyleId>
              </a:tblPr>
              <a:tblGrid>
                <a:gridCol w="1500000"/>
                <a:gridCol w="1500000"/>
                <a:gridCol w="1500000"/>
                <a:gridCol w="1500000"/>
                <a:gridCol w="1500000"/>
                <a:gridCol w="1500000"/>
                <a:gridCol w="1500000"/>
                <a:gridCol w="1500000"/>
              </a:tblGrid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±σ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PR-AUC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Recall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Prec.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Umbral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HistGradientBoosting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0,7989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0,0064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0,658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0,599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0,563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0,640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0,7964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0,0076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0,652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0,599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0,537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0,678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 ★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0,7943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0,0074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0,645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0,593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0,539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0,659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MLP (red neuronal)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0,7823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0,0100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0,623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0,580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0,535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0,632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Árbol de decisión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0,7813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0,0097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0,632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0,593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0,586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0,599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Regresión logística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0,7367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0,0063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0,552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0,511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0,442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0,608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Regla a mano (h≥12)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0,5794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0,0105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0,242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0,381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0,701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0,261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3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Línea base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0,211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0,000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0,50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81" name="Google Shape;281;p10"/>
          <p:cNvSpPr txBox="1"/>
          <p:nvPr/>
        </p:nvSpPr>
        <p:spPr>
          <a:xfrm>
            <a:off x="600000" y="43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Lectura rápida</a:t>
            </a:r>
            <a:endParaRPr/>
          </a:p>
        </p:txBody>
      </p:sp>
      <p:sp>
        <p:nvSpPr>
          <p:cNvPr id="282" name="Google Shape;282;p10"/>
          <p:cNvSpPr txBox="1"/>
          <p:nvPr/>
        </p:nvSpPr>
        <p:spPr>
          <a:xfrm>
            <a:off x="600000" y="4750000"/>
            <a:ext cx="12000000" cy="2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Los 3 ensambles (HistGB, XGBoost, RF) están EMPATADOS en validación dentro de 1 desviación típica (0,0064).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logística se queda muy por debajo: con solo linealidad no captura la rotación del avión.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regla a mano calibrada (hora 12) ya mete recall alto (0,70) pero con precisión bajísima (0,26).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línea base acierta 78 % pero recall = 0: la EXACTITUD engaña con clase desbalanceada.</a:t>
            </a:r>
            <a:endParaRPr/>
          </a:p>
        </p:txBody>
      </p:sp>
      <p:sp>
        <p:nvSpPr>
          <p:cNvPr id="283" name="Google Shape;283;p10"/>
          <p:cNvSpPr txBox="1"/>
          <p:nvPr/>
        </p:nvSpPr>
        <p:spPr>
          <a:xfrm>
            <a:off x="275125" y="64580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284" name="Google Shape;284;p10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10 / 14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1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10 · Elección argumentada · no siempre gana el número más alto</a:t>
            </a:r>
            <a:endParaRPr/>
          </a:p>
        </p:txBody>
      </p:sp>
      <p:sp>
        <p:nvSpPr>
          <p:cNvPr id="292" name="Google Shape;292;p11"/>
          <p:cNvSpPr txBox="1"/>
          <p:nvPr/>
        </p:nvSpPr>
        <p:spPr>
          <a:xfrm>
            <a:off x="600000" y="11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Regla fijada ANTES de mirar la prueba (igual que casas de Ames: XGBoost 0,114 vs Ridge 0,115 → gana Ridge por simplicidad).</a:t>
            </a:r>
            <a:endParaRPr/>
          </a:p>
        </p:txBody>
      </p:sp>
      <p:sp>
        <p:nvSpPr>
          <p:cNvPr id="293" name="Google Shape;293;p11"/>
          <p:cNvSpPr/>
          <p:nvPr/>
        </p:nvSpPr>
        <p:spPr>
          <a:xfrm>
            <a:off x="600000" y="1800000"/>
            <a:ext cx="12100000" cy="1200000"/>
          </a:xfrm>
          <a:prstGeom prst="rect">
            <a:avLst/>
          </a:prstGeom>
          <a:solidFill>
            <a:srgbClr val="2B6CB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 txBox="1"/>
          <p:nvPr/>
        </p:nvSpPr>
        <p:spPr>
          <a:xfrm>
            <a:off x="700000" y="1900000"/>
            <a:ext cx="119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Dentro de 1 desviación típica del mejor AUC, gana el MÁS SIMPLE.</a:t>
            </a:r>
            <a:endParaRPr/>
          </a:p>
        </p:txBody>
      </p:sp>
      <p:sp>
        <p:nvSpPr>
          <p:cNvPr id="295" name="Google Shape;295;p11"/>
          <p:cNvSpPr txBox="1"/>
          <p:nvPr/>
        </p:nvSpPr>
        <p:spPr>
          <a:xfrm>
            <a:off x="700000" y="2450000"/>
            <a:ext cx="119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Umbral de empate: 0,7989 − 0,0064 = 0,7925. Empatan HistGB, XGBoost y Random Forest.</a:t>
            </a:r>
            <a:endParaRPr/>
          </a:p>
        </p:txBody>
      </p:sp>
      <p:graphicFrame>
        <p:nvGraphicFramePr>
          <p:cNvPr id="296" name="Google Shape;296;p11"/>
          <p:cNvGraphicFramePr/>
          <p:nvPr/>
        </p:nvGraphicFramePr>
        <p:xfrm>
          <a:off x="600000" y="32000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{893E14B0-F56B-4F5A-AFEA-78C6A365C949}</a:tableStyleId>
              </a:tblPr>
              <a:tblGrid>
                <a:gridCol w="3000000"/>
                <a:gridCol w="3000000"/>
                <a:gridCol w="3000000"/>
                <a:gridCol w="3000000"/>
              </a:tblGrid>
              <a:tr h="4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Modelo empatado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AUC CV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Complejidad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Decisión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2B6CB0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HistGradientBoosting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0,7989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(boosting iterativo)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pierde el empate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XGBoost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0,7964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 (boosting externo)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pierde el empate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E2E8F0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Random Forest ★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0,7943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5 (bagging, interpretable)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 u="none" cap="none" strike="noStrike">
                          <a:solidFill>
                            <a:srgbClr val="4A5568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GANA · el más simple</a:t>
                      </a:r>
                      <a:endParaRPr/>
                    </a:p>
                  </a:txBody>
                  <a:tcPr marT="45725" marB="45725" marR="91450" marL="914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7" name="Google Shape;297;p11"/>
          <p:cNvSpPr txBox="1"/>
          <p:nvPr/>
        </p:nvSpPr>
        <p:spPr>
          <a:xfrm>
            <a:off x="600000" y="5100000"/>
            <a:ext cx="120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2F855A"/>
                </a:solidFill>
                <a:latin typeface="Calibri"/>
                <a:ea typeface="Calibri"/>
                <a:cs typeface="Calibri"/>
                <a:sym typeface="Calibri"/>
              </a:rPr>
              <a:t>Por qué Random Forest es la elección honesta</a:t>
            </a:r>
            <a:endParaRPr/>
          </a:p>
        </p:txBody>
      </p:sp>
      <p:sp>
        <p:nvSpPr>
          <p:cNvPr id="298" name="Google Shape;298;p11"/>
          <p:cNvSpPr txBox="1"/>
          <p:nvPr/>
        </p:nvSpPr>
        <p:spPr>
          <a:xfrm>
            <a:off x="600000" y="5550000"/>
            <a:ext cx="12000000" cy="1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Importancias nativas → se puede inspeccionar qué columna manda.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Sin ajuste iterativo del gradiente → menos riesgo de sobreajuste con los pliegues temporales.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La ventaja de HistGB es de 0,0046 de AUC: menor que la variabilidad entre pliegues (0,0064).</a:t>
            </a:r>
            <a:endParaRPr/>
          </a:p>
        </p:txBody>
      </p:sp>
      <p:sp>
        <p:nvSpPr>
          <p:cNvPr id="299" name="Google Shape;299;p11"/>
          <p:cNvSpPr txBox="1"/>
          <p:nvPr/>
        </p:nvSpPr>
        <p:spPr>
          <a:xfrm>
            <a:off x="262675" y="64500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300" name="Google Shape;300;p11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11 / 14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2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2"/>
          <p:cNvSpPr/>
          <p:nvPr/>
        </p:nvSpPr>
        <p:spPr>
          <a:xfrm>
            <a:off x="571500" y="2905125"/>
            <a:ext cx="5238900" cy="3238500"/>
          </a:xfrm>
          <a:prstGeom prst="roundRect">
            <a:avLst>
              <a:gd fmla="val 2941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2"/>
          <p:cNvSpPr/>
          <p:nvPr/>
        </p:nvSpPr>
        <p:spPr>
          <a:xfrm>
            <a:off x="6191250" y="2905125"/>
            <a:ext cx="5429400" cy="3238500"/>
          </a:xfrm>
          <a:prstGeom prst="roundRect">
            <a:avLst>
              <a:gd fmla="val 2941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2"/>
          <p:cNvSpPr txBox="1"/>
          <p:nvPr/>
        </p:nvSpPr>
        <p:spPr>
          <a:xfrm>
            <a:off x="571500" y="381000"/>
            <a:ext cx="110490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11 · Prueba final · 200.000 vuelos del 9-abr al 31-may 2026</a:t>
            </a:r>
            <a:endParaRPr b="1" sz="2400">
              <a:solidFill>
                <a:srgbClr val="2B6CB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2"/>
          <p:cNvSpPr txBox="1"/>
          <p:nvPr/>
        </p:nvSpPr>
        <p:spPr>
          <a:xfrm>
            <a:off x="809625" y="3095625"/>
            <a:ext cx="4762500" cy="2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Lectura operativa</a:t>
            </a:r>
            <a:endParaRPr b="1" sz="1500">
              <a:solidFill>
                <a:srgbClr val="C0562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 txBox="1"/>
          <p:nvPr/>
        </p:nvSpPr>
        <p:spPr>
          <a:xfrm>
            <a:off x="809625" y="3476625"/>
            <a:ext cx="4762500" cy="1385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Con umbral 0,333:</a:t>
            </a:r>
            <a:endParaRPr b="1" sz="1200">
              <a:solidFill>
                <a:srgbClr val="2B6CB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spcBef>
                <a:spcPts val="900"/>
              </a:spcBef>
              <a:spcAft>
                <a:spcPts val="0"/>
              </a:spcAft>
              <a:buClr>
                <a:srgbClr val="2D3748"/>
              </a:buClr>
              <a:buSzPts val="1200"/>
              <a:buFont typeface="Calibri"/>
              <a:buChar char="●"/>
            </a:pPr>
            <a:r>
              <a:rPr b="0" lang="en-US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Capturamos el </a:t>
            </a:r>
            <a:r>
              <a:rPr b="1" lang="en-US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52 %</a:t>
            </a:r>
            <a:r>
              <a:rPr b="0" lang="en-US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 de los retrasos reales.</a:t>
            </a:r>
            <a:endParaRPr b="0" sz="120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spcBef>
                <a:spcPts val="900"/>
              </a:spcBef>
              <a:spcAft>
                <a:spcPts val="0"/>
              </a:spcAft>
              <a:buClr>
                <a:srgbClr val="2D3748"/>
              </a:buClr>
              <a:buSzPts val="1200"/>
              <a:buFont typeface="Calibri"/>
              <a:buChar char="●"/>
            </a:pPr>
            <a:r>
              <a:rPr b="1" lang="en-US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2 de cada 3 alertas (67 %)</a:t>
            </a:r>
            <a:r>
              <a:rPr b="0" lang="en-US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 son retrasos verdaderos.</a:t>
            </a:r>
            <a:endParaRPr b="0" sz="120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spcBef>
                <a:spcPts val="900"/>
              </a:spcBef>
              <a:spcAft>
                <a:spcPts val="0"/>
              </a:spcAft>
              <a:buClr>
                <a:srgbClr val="2D3748"/>
              </a:buClr>
              <a:buSzPts val="1200"/>
              <a:buFont typeface="Calibri"/>
              <a:buChar char="●"/>
            </a:pPr>
            <a:r>
              <a:rPr b="1" lang="en-US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F1 = 0,586</a:t>
            </a:r>
            <a:r>
              <a:rPr b="0" lang="en-US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 (vs 0,386 de la regla a mano, </a:t>
            </a:r>
            <a:r>
              <a:rPr b="1" lang="en-US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+52 %</a:t>
            </a:r>
            <a:r>
              <a:rPr b="0" lang="en-US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 b="0" sz="120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4800" lvl="0" marL="457200" rtl="0" algn="l">
              <a:spcBef>
                <a:spcPts val="900"/>
              </a:spcBef>
              <a:spcAft>
                <a:spcPts val="900"/>
              </a:spcAft>
              <a:buClr>
                <a:srgbClr val="2D3748"/>
              </a:buClr>
              <a:buSzPts val="1200"/>
              <a:buFont typeface="Calibri"/>
              <a:buChar char="●"/>
            </a:pPr>
            <a:r>
              <a:rPr b="1" lang="en-US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AUC = 0,806</a:t>
            </a:r>
            <a:r>
              <a:rPr b="0" lang="en-US" sz="1200">
                <a:solidFill>
                  <a:srgbClr val="2D3748"/>
                </a:solidFill>
                <a:latin typeface="Calibri"/>
                <a:ea typeface="Calibri"/>
                <a:cs typeface="Calibri"/>
                <a:sym typeface="Calibri"/>
              </a:rPr>
              <a:t> (vs 0,500 del azar).</a:t>
            </a:r>
            <a:endParaRPr b="0" sz="120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2"/>
          <p:cNvSpPr txBox="1"/>
          <p:nvPr/>
        </p:nvSpPr>
        <p:spPr>
          <a:xfrm>
            <a:off x="6429375" y="3095625"/>
            <a:ext cx="4953000" cy="2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Top 5 columnas (importancia por permutación)</a:t>
            </a:r>
            <a:endParaRPr b="1" sz="1500">
              <a:solidFill>
                <a:srgbClr val="C0562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2"/>
          <p:cNvSpPr txBox="1"/>
          <p:nvPr/>
        </p:nvSpPr>
        <p:spPr>
          <a:xfrm>
            <a:off x="6429375" y="5476875"/>
            <a:ext cx="4953000" cy="477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76200" lIns="114300" spcFirstLastPara="1" rIns="114300" wrap="square" tIns="762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4A5568"/>
                </a:solidFill>
                <a:highlight>
                  <a:srgbClr val="EBF8FF"/>
                </a:highlight>
                <a:latin typeface="Calibri"/>
                <a:ea typeface="Calibri"/>
                <a:cs typeface="Calibri"/>
                <a:sym typeface="Calibri"/>
              </a:rPr>
              <a:t>Las 3 primeras </a:t>
            </a:r>
            <a:r>
              <a:rPr b="1" lang="en-US" sz="1050">
                <a:solidFill>
                  <a:srgbClr val="4A5568"/>
                </a:solidFill>
                <a:highlight>
                  <a:srgbClr val="EBF8FF"/>
                </a:highlight>
                <a:latin typeface="Calibri"/>
                <a:ea typeface="Calibri"/>
                <a:cs typeface="Calibri"/>
                <a:sym typeface="Calibri"/>
              </a:rPr>
              <a:t>SON</a:t>
            </a:r>
            <a:r>
              <a:rPr b="0" lang="en-US" sz="1050">
                <a:solidFill>
                  <a:srgbClr val="4A5568"/>
                </a:solidFill>
                <a:highlight>
                  <a:srgbClr val="EBF8FF"/>
                </a:highlight>
                <a:latin typeface="Calibri"/>
                <a:ea typeface="Calibri"/>
                <a:cs typeface="Calibri"/>
                <a:sym typeface="Calibri"/>
              </a:rPr>
              <a:t> las columnas que construimos nosotros. La rotación de la aeronave es, por lejos, lo que más mueve el AUC.</a:t>
            </a:r>
            <a:endParaRPr b="0" sz="1050">
              <a:solidFill>
                <a:srgbClr val="4A5568"/>
              </a:solidFill>
              <a:highlight>
                <a:srgbClr val="EBF8FF"/>
              </a:highlight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 txBox="1"/>
          <p:nvPr/>
        </p:nvSpPr>
        <p:spPr>
          <a:xfrm>
            <a:off x="571500" y="6381750"/>
            <a:ext cx="66675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 b="0" sz="1000">
              <a:solidFill>
                <a:srgbClr val="A0AE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2"/>
          <p:cNvSpPr txBox="1"/>
          <p:nvPr/>
        </p:nvSpPr>
        <p:spPr>
          <a:xfrm>
            <a:off x="10420350" y="6381750"/>
            <a:ext cx="12003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12 / 14</a:t>
            </a:r>
            <a:endParaRPr b="0" sz="1000">
              <a:solidFill>
                <a:srgbClr val="A0AE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16" name="Google Shape;316;p12"/>
          <p:cNvGraphicFramePr/>
          <p:nvPr/>
        </p:nvGraphicFramePr>
        <p:xfrm>
          <a:off x="571500" y="10001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{893E14B0-F56B-4F5A-AFEA-78C6A365C949}</a:tableStyleId>
              </a:tblPr>
              <a:tblGrid>
                <a:gridCol w="1905000"/>
                <a:gridCol w="1524000"/>
                <a:gridCol w="1524000"/>
                <a:gridCol w="1524000"/>
                <a:gridCol w="1524000"/>
                <a:gridCol w="1524000"/>
                <a:gridCol w="1524000"/>
              </a:tblGrid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Modelo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T="76200" marB="76200" marR="114300" marL="114300">
                    <a:lnB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AUC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T="76200" marB="76200" marR="114300" marL="114300">
                    <a:lnB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PR-AUC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T="76200" marB="76200" marR="114300" marL="114300">
                    <a:lnB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F1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T="76200" marB="76200" marR="114300" marL="114300">
                    <a:lnB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Recall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T="76200" marB="76200" marR="114300" marL="114300">
                    <a:lnB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Precisión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T="76200" marB="76200" marR="114300" marL="114300">
                    <a:lnB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Exactitud</a:t>
                      </a:r>
                      <a:endParaRPr b="1" sz="1100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T="76200" marB="76200" marR="114300" marL="114300">
                    <a:lnB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2B6CB0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Random Forest ★</a:t>
                      </a:r>
                      <a:endParaRPr b="1" sz="1100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T="76200" marB="76200" marR="114300" marL="114300">
                    <a:lnT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0,806</a:t>
                      </a:r>
                      <a:endParaRPr b="1" sz="1200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T="76200" marB="76200" marR="114300" marL="114300">
                    <a:lnT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0,659</a:t>
                      </a:r>
                      <a:endParaRPr b="1" sz="1100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T="76200" marB="76200" marR="114300" marL="114300">
                    <a:lnT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0,586</a:t>
                      </a:r>
                      <a:endParaRPr b="1" sz="1200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T="76200" marB="76200" marR="114300" marL="114300">
                    <a:lnT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0,524</a:t>
                      </a:r>
                      <a:endParaRPr b="1" sz="1100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T="76200" marB="76200" marR="114300" marL="114300">
                    <a:lnT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0,666</a:t>
                      </a:r>
                      <a:endParaRPr b="1" sz="1100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T="76200" marB="76200" marR="114300" marL="114300">
                    <a:lnT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8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>
                          <a:solidFill>
                            <a:srgbClr val="2B6CB0"/>
                          </a:solidFill>
                          <a:highlight>
                            <a:srgbClr val="EBF8FF"/>
                          </a:highlight>
                        </a:rPr>
                        <a:t>0,848</a:t>
                      </a:r>
                      <a:endParaRPr b="1" sz="1100">
                        <a:solidFill>
                          <a:srgbClr val="2B6CB0"/>
                        </a:solidFill>
                        <a:highlight>
                          <a:srgbClr val="EBF8FF"/>
                        </a:highlight>
                      </a:endParaRPr>
                    </a:p>
                  </a:txBody>
                  <a:tcPr marT="76200" marB="76200" marR="114300" marL="114300">
                    <a:lnT cap="flat" cmpd="sng" w="19050">
                      <a:solidFill>
                        <a:srgbClr val="1A365D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BF8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Regla a mano (h≥12)</a:t>
                      </a:r>
                      <a:endParaRPr b="0" sz="105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0,600</a:t>
                      </a:r>
                      <a:endParaRPr b="0" sz="105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0,247</a:t>
                      </a:r>
                      <a:endParaRPr b="0" sz="105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0,386</a:t>
                      </a:r>
                      <a:endParaRPr b="0" sz="105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0,738</a:t>
                      </a:r>
                      <a:endParaRPr b="0" sz="105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0,261</a:t>
                      </a:r>
                      <a:endParaRPr b="0" sz="105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4A5568"/>
                          </a:solidFill>
                          <a:highlight>
                            <a:srgbClr val="F7FAFC"/>
                          </a:highlight>
                        </a:rPr>
                        <a:t>0,518</a:t>
                      </a:r>
                      <a:endParaRPr b="0" sz="1050">
                        <a:solidFill>
                          <a:srgbClr val="4A556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BEE3F8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C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718096"/>
                          </a:solidFill>
                        </a:rPr>
                        <a:t>Línea base</a:t>
                      </a:r>
                      <a:endParaRPr b="0" sz="1050">
                        <a:solidFill>
                          <a:srgbClr val="718096"/>
                        </a:solidFill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718096"/>
                          </a:solidFill>
                        </a:rPr>
                        <a:t>0,500</a:t>
                      </a:r>
                      <a:endParaRPr b="0" sz="1050">
                        <a:solidFill>
                          <a:srgbClr val="718096"/>
                        </a:solidFill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718096"/>
                          </a:solidFill>
                        </a:rPr>
                        <a:t>0,205</a:t>
                      </a:r>
                      <a:endParaRPr b="0" sz="1050">
                        <a:solidFill>
                          <a:srgbClr val="718096"/>
                        </a:solidFill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718096"/>
                          </a:solidFill>
                        </a:rPr>
                        <a:t>0,000</a:t>
                      </a:r>
                      <a:endParaRPr b="0" sz="1050">
                        <a:solidFill>
                          <a:srgbClr val="718096"/>
                        </a:solidFill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718096"/>
                          </a:solidFill>
                        </a:rPr>
                        <a:t>0,000</a:t>
                      </a:r>
                      <a:endParaRPr b="0" sz="1050">
                        <a:solidFill>
                          <a:srgbClr val="718096"/>
                        </a:solidFill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718096"/>
                          </a:solidFill>
                        </a:rPr>
                        <a:t>0,000</a:t>
                      </a:r>
                      <a:endParaRPr b="0" sz="1050">
                        <a:solidFill>
                          <a:srgbClr val="718096"/>
                        </a:solidFill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50">
                          <a:solidFill>
                            <a:srgbClr val="718096"/>
                          </a:solidFill>
                        </a:rPr>
                        <a:t>0,795</a:t>
                      </a:r>
                      <a:endParaRPr b="0" sz="1050">
                        <a:solidFill>
                          <a:srgbClr val="718096"/>
                        </a:solidFill>
                      </a:endParaRPr>
                    </a:p>
                  </a:txBody>
                  <a:tcPr marT="76200" marB="76200" marR="114300" marL="114300">
                    <a:lnT cap="flat" cmpd="sng" w="9525">
                      <a:solidFill>
                        <a:srgbClr val="E2E8F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17" name="Google Shape;317;p12"/>
          <p:cNvGraphicFramePr/>
          <p:nvPr/>
        </p:nvGraphicFramePr>
        <p:xfrm>
          <a:off x="6429375" y="3476625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{893E14B0-F56B-4F5A-AFEA-78C6A365C949}</a:tableStyleId>
              </a:tblPr>
              <a:tblGrid>
                <a:gridCol w="3238500"/>
                <a:gridCol w="1714500"/>
              </a:tblGrid>
              <a:tr h="3349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Columna</a:t>
                      </a:r>
                      <a:endParaRPr b="1" sz="1050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T="57150" marB="57150" marR="114300" marL="114300"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50">
                          <a:solidFill>
                            <a:srgbClr val="FFFFFF"/>
                          </a:solidFill>
                          <a:highlight>
                            <a:srgbClr val="2B6CB0"/>
                          </a:highlight>
                        </a:rPr>
                        <a:t>Caída del AUC</a:t>
                      </a:r>
                      <a:endParaRPr b="1" sz="1050">
                        <a:solidFill>
                          <a:srgbClr val="FFFFFF"/>
                        </a:solidFill>
                        <a:highlight>
                          <a:srgbClr val="2B6CB0"/>
                        </a:highlight>
                      </a:endParaRPr>
                    </a:p>
                  </a:txBody>
                  <a:tcPr marT="57150" marB="57150" marR="114300" marL="114300">
                    <a:solidFill>
                      <a:srgbClr val="2B6CB0"/>
                    </a:solidFill>
                  </a:tcPr>
                </a:tc>
              </a:tr>
              <a:tr h="314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solidFill>
                            <a:srgbClr val="2B6CB0"/>
                          </a:solidFill>
                          <a:highlight>
                            <a:srgbClr val="FFFFFF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ret_prev_llegada</a:t>
                      </a:r>
                      <a:endParaRPr b="1" sz="950">
                        <a:solidFill>
                          <a:srgbClr val="2B6CB0"/>
                        </a:solidFill>
                        <a:highlight>
                          <a:srgbClr val="FFFFFF"/>
                        </a:highlight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7150" marB="57150" marR="114300" marL="114300">
                    <a:lnB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C05621"/>
                          </a:solidFill>
                          <a:highlight>
                            <a:srgbClr val="FFFFFF"/>
                          </a:highlight>
                        </a:rPr>
                        <a:t>+0,110</a:t>
                      </a:r>
                      <a:endParaRPr b="1" sz="1000">
                        <a:solidFill>
                          <a:srgbClr val="C05621"/>
                        </a:solidFill>
                        <a:highlight>
                          <a:srgbClr val="FFFFFF"/>
                        </a:highlight>
                      </a:endParaRPr>
                    </a:p>
                  </a:txBody>
                  <a:tcPr marT="57150" marB="57150" marR="114300" marL="114300">
                    <a:lnB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4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solidFill>
                            <a:srgbClr val="2B6CB0"/>
                          </a:solidFill>
                          <a:highlight>
                            <a:srgbClr val="F7FAFC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prev_disponible</a:t>
                      </a:r>
                      <a:endParaRPr b="1" sz="950">
                        <a:solidFill>
                          <a:srgbClr val="2B6CB0"/>
                        </a:solidFill>
                        <a:highlight>
                          <a:srgbClr val="F7FAFC"/>
                        </a:highlight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7150" marB="57150" marR="114300" marL="114300">
                    <a:lnT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C05621"/>
                          </a:solidFill>
                        </a:rPr>
                        <a:t>+0,052</a:t>
                      </a:r>
                      <a:endParaRPr b="1" sz="1000">
                        <a:solidFill>
                          <a:srgbClr val="C05621"/>
                        </a:solidFill>
                      </a:endParaRPr>
                    </a:p>
                  </a:txBody>
                  <a:tcPr marT="57150" marB="57150" marR="114300" marL="114300">
                    <a:lnT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C"/>
                    </a:solidFill>
                  </a:tcPr>
                </a:tc>
              </a:tr>
              <a:tr h="314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>
                          <a:solidFill>
                            <a:srgbClr val="2B6CB0"/>
                          </a:solidFill>
                          <a:highlight>
                            <a:srgbClr val="FFFFFF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holgura_prog</a:t>
                      </a:r>
                      <a:endParaRPr b="1" sz="950">
                        <a:solidFill>
                          <a:srgbClr val="2B6CB0"/>
                        </a:solidFill>
                        <a:highlight>
                          <a:srgbClr val="FFFFFF"/>
                        </a:highlight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7150" marB="57150" marR="114300" marL="114300">
                    <a:lnT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000">
                          <a:solidFill>
                            <a:srgbClr val="C05621"/>
                          </a:solidFill>
                          <a:highlight>
                            <a:srgbClr val="FFFFFF"/>
                          </a:highlight>
                        </a:rPr>
                        <a:t>+0,033</a:t>
                      </a:r>
                      <a:endParaRPr b="1" sz="1000">
                        <a:solidFill>
                          <a:srgbClr val="C05621"/>
                        </a:solidFill>
                        <a:highlight>
                          <a:srgbClr val="FFFFFF"/>
                        </a:highlight>
                      </a:endParaRPr>
                    </a:p>
                  </a:txBody>
                  <a:tcPr marT="57150" marB="57150" marR="114300" marL="114300">
                    <a:lnT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314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solidFill>
                            <a:srgbClr val="2D3748"/>
                          </a:solidFill>
                          <a:highlight>
                            <a:srgbClr val="F7FAFC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hora_sal_dec</a:t>
                      </a:r>
                      <a:endParaRPr sz="950">
                        <a:solidFill>
                          <a:srgbClr val="2D3748"/>
                        </a:solidFill>
                        <a:highlight>
                          <a:srgbClr val="F7FAFC"/>
                        </a:highlight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7150" marB="57150" marR="114300" marL="114300">
                    <a:lnT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>
                          <a:solidFill>
                            <a:srgbClr val="2D3748"/>
                          </a:solidFill>
                          <a:highlight>
                            <a:srgbClr val="F7FAFC"/>
                          </a:highlight>
                        </a:rPr>
                        <a:t>+0,013</a:t>
                      </a:r>
                      <a:endParaRPr b="0" sz="1000">
                        <a:solidFill>
                          <a:srgbClr val="2D3748"/>
                        </a:solidFill>
                        <a:highlight>
                          <a:srgbClr val="F7FAFC"/>
                        </a:highlight>
                      </a:endParaRPr>
                    </a:p>
                  </a:txBody>
                  <a:tcPr marT="57150" marB="57150" marR="114300" marL="114300">
                    <a:lnT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7FAFC"/>
                    </a:solidFill>
                  </a:tcPr>
                </a:tc>
              </a:tr>
              <a:tr h="314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950">
                          <a:solidFill>
                            <a:srgbClr val="2D3748"/>
                          </a:solidFill>
                          <a:highlight>
                            <a:srgbClr val="FFFFFF"/>
                          </a:highlight>
                          <a:latin typeface="Arial"/>
                          <a:ea typeface="Arial"/>
                          <a:cs typeface="Arial"/>
                          <a:sym typeface="Arial"/>
                        </a:rPr>
                        <a:t>DEST (aeropuerto destino)</a:t>
                      </a:r>
                      <a:endParaRPr sz="950">
                        <a:solidFill>
                          <a:srgbClr val="2D3748"/>
                        </a:solidFill>
                        <a:highlight>
                          <a:srgbClr val="FFFFFF"/>
                        </a:highlight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7150" marB="57150" marR="114300" marL="114300">
                    <a:lnT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1000">
                          <a:solidFill>
                            <a:srgbClr val="2D3748"/>
                          </a:solidFill>
                          <a:highlight>
                            <a:srgbClr val="FFFFFF"/>
                          </a:highlight>
                        </a:rPr>
                        <a:t>+0,008</a:t>
                      </a:r>
                      <a:endParaRPr b="0" sz="1000">
                        <a:solidFill>
                          <a:srgbClr val="2D3748"/>
                        </a:solidFill>
                        <a:highlight>
                          <a:srgbClr val="FFFFFF"/>
                        </a:highlight>
                      </a:endParaRPr>
                    </a:p>
                  </a:txBody>
                  <a:tcPr marT="57150" marB="57150" marR="114300" marL="114300">
                    <a:lnT cap="flat" cmpd="sng" w="9525">
                      <a:solidFill>
                        <a:srgbClr val="EDF2F7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3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571500" y="3333750"/>
            <a:ext cx="11049000" cy="2905200"/>
          </a:xfrm>
          <a:prstGeom prst="roundRect">
            <a:avLst>
              <a:gd fmla="val 3278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3"/>
          <p:cNvSpPr txBox="1"/>
          <p:nvPr/>
        </p:nvSpPr>
        <p:spPr>
          <a:xfrm>
            <a:off x="571500" y="381000"/>
            <a:ext cx="11049000" cy="369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12 · Código en vivo · reproducibilidad</a:t>
            </a:r>
            <a:endParaRPr b="1" sz="2400">
              <a:solidFill>
                <a:srgbClr val="2B6CB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3"/>
          <p:cNvSpPr txBox="1"/>
          <p:nvPr/>
        </p:nvSpPr>
        <p:spPr>
          <a:xfrm>
            <a:off x="571500" y="857250"/>
            <a:ext cx="11049000" cy="184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2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«Corre de principio a fin sin errores, con semilla fija. Si el entrenamiento es largo, trae el modelo guardado y una versión reducida».</a:t>
            </a:r>
            <a:endParaRPr b="0" i="1" sz="12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3"/>
          <p:cNvSpPr/>
          <p:nvPr/>
        </p:nvSpPr>
        <p:spPr>
          <a:xfrm>
            <a:off x="571500" y="1428750"/>
            <a:ext cx="2590800" cy="1238400"/>
          </a:xfrm>
          <a:prstGeom prst="roundRect">
            <a:avLst>
              <a:gd fmla="val 7692" name="adj"/>
            </a:avLst>
          </a:prstGeom>
          <a:solidFill>
            <a:srgbClr val="2B6CB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3"/>
          <p:cNvSpPr txBox="1"/>
          <p:nvPr/>
        </p:nvSpPr>
        <p:spPr>
          <a:xfrm>
            <a:off x="571500" y="1543050"/>
            <a:ext cx="2590800" cy="43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3,5 min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13"/>
          <p:cNvSpPr txBox="1"/>
          <p:nvPr/>
        </p:nvSpPr>
        <p:spPr>
          <a:xfrm>
            <a:off x="666750" y="2095500"/>
            <a:ext cx="24003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Restart &amp; Run All completo</a:t>
            </a:r>
            <a:endParaRPr b="0" sz="11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3390900" y="1428750"/>
            <a:ext cx="2590800" cy="1238400"/>
          </a:xfrm>
          <a:prstGeom prst="roundRect">
            <a:avLst>
              <a:gd fmla="val 7692" name="adj"/>
            </a:avLst>
          </a:prstGeom>
          <a:solidFill>
            <a:srgbClr val="C05621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1" name="Google Shape;331;p13"/>
          <p:cNvSpPr txBox="1"/>
          <p:nvPr/>
        </p:nvSpPr>
        <p:spPr>
          <a:xfrm>
            <a:off x="3390900" y="1543050"/>
            <a:ext cx="2590800" cy="43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42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3"/>
          <p:cNvSpPr txBox="1"/>
          <p:nvPr/>
        </p:nvSpPr>
        <p:spPr>
          <a:xfrm>
            <a:off x="3486150" y="2095500"/>
            <a:ext cx="24003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FEEBC8"/>
                </a:solidFill>
                <a:latin typeface="Calibri"/>
                <a:ea typeface="Calibri"/>
                <a:cs typeface="Calibri"/>
                <a:sym typeface="Calibri"/>
              </a:rPr>
              <a:t>semilla fija (reproducible)</a:t>
            </a:r>
            <a:endParaRPr b="0" sz="1100">
              <a:solidFill>
                <a:srgbClr val="FEEBC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3"/>
          <p:cNvSpPr/>
          <p:nvPr/>
        </p:nvSpPr>
        <p:spPr>
          <a:xfrm>
            <a:off x="6210300" y="1428750"/>
            <a:ext cx="2590800" cy="1238400"/>
          </a:xfrm>
          <a:prstGeom prst="roundRect">
            <a:avLst>
              <a:gd fmla="val 7692" name="adj"/>
            </a:avLst>
          </a:prstGeom>
          <a:solidFill>
            <a:srgbClr val="2B6CB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3"/>
          <p:cNvSpPr txBox="1"/>
          <p:nvPr/>
        </p:nvSpPr>
        <p:spPr>
          <a:xfrm>
            <a:off x="6210300" y="1543050"/>
            <a:ext cx="2590800" cy="43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3"/>
          <p:cNvSpPr txBox="1"/>
          <p:nvPr/>
        </p:nvSpPr>
        <p:spPr>
          <a:xfrm>
            <a:off x="6305550" y="2095500"/>
            <a:ext cx="24003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E2E8F0"/>
                </a:solidFill>
                <a:latin typeface="Calibri"/>
                <a:ea typeface="Calibri"/>
                <a:cs typeface="Calibri"/>
                <a:sym typeface="Calibri"/>
              </a:rPr>
              <a:t>celdas de código + 24 markdown</a:t>
            </a:r>
            <a:endParaRPr b="0" sz="1100">
              <a:solidFill>
                <a:srgbClr val="E2E8F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3"/>
          <p:cNvSpPr/>
          <p:nvPr/>
        </p:nvSpPr>
        <p:spPr>
          <a:xfrm>
            <a:off x="9029700" y="1428750"/>
            <a:ext cx="2590800" cy="1238400"/>
          </a:xfrm>
          <a:prstGeom prst="roundRect">
            <a:avLst>
              <a:gd fmla="val 7692" name="adj"/>
            </a:avLst>
          </a:prstGeom>
          <a:solidFill>
            <a:srgbClr val="2F855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3"/>
          <p:cNvSpPr txBox="1"/>
          <p:nvPr/>
        </p:nvSpPr>
        <p:spPr>
          <a:xfrm>
            <a:off x="9029700" y="1543050"/>
            <a:ext cx="2590800" cy="431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&lt;2 s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3"/>
          <p:cNvSpPr txBox="1"/>
          <p:nvPr/>
        </p:nvSpPr>
        <p:spPr>
          <a:xfrm>
            <a:off x="9124950" y="2095500"/>
            <a:ext cx="2400300" cy="169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C6F6D5"/>
                </a:solidFill>
                <a:latin typeface="Calibri"/>
                <a:ea typeface="Calibri"/>
                <a:cs typeface="Calibri"/>
                <a:sym typeface="Calibri"/>
              </a:rPr>
              <a:t>caché parquet en 2.ª corrida</a:t>
            </a:r>
            <a:endParaRPr b="0" sz="1100">
              <a:solidFill>
                <a:srgbClr val="C6F6D5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3"/>
          <p:cNvSpPr txBox="1"/>
          <p:nvPr/>
        </p:nvSpPr>
        <p:spPr>
          <a:xfrm>
            <a:off x="571500" y="2905125"/>
            <a:ext cx="11049000" cy="23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Qué hay en el repositorio</a:t>
            </a:r>
            <a:endParaRPr b="1" sz="1500">
              <a:solidFill>
                <a:srgbClr val="C0562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13"/>
          <p:cNvSpPr txBox="1"/>
          <p:nvPr/>
        </p:nvSpPr>
        <p:spPr>
          <a:xfrm>
            <a:off x="809625" y="3476625"/>
            <a:ext cx="10572900" cy="2539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src/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5 módulos (uno por paso): config, datos, columnas, modelos, evaluacion.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reports/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tablas CSV, resumen_final.json y 4 figuras PNG.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notebooks/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proyecto_final_vuelos_us.ipynb — el único notebook, con los 6 pasos.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docs/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ficha_de_datos.md · decisiones.md · diccionario_datos.md · guia_colaboracion.md.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models/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modelo_elegido.joblib (Pipeline + umbral + hora de la regla).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50">
                <a:solidFill>
                  <a:srgbClr val="2B6CB0"/>
                </a:solidFill>
                <a:highlight>
                  <a:srgbClr val="EBF8FF"/>
                </a:highlight>
                <a:latin typeface="Consolas"/>
                <a:ea typeface="Consolas"/>
                <a:cs typeface="Consolas"/>
                <a:sym typeface="Consolas"/>
              </a:rPr>
              <a:t>README.md</a:t>
            </a:r>
            <a:endParaRPr sz="1150">
              <a:solidFill>
                <a:srgbClr val="2D374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recorrido por los 6 pasos con los números reales de esta corrida.</a:t>
            </a:r>
            <a:endParaRPr sz="1100">
              <a:solidFill>
                <a:srgbClr val="4A556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3"/>
          <p:cNvSpPr txBox="1"/>
          <p:nvPr/>
        </p:nvSpPr>
        <p:spPr>
          <a:xfrm>
            <a:off x="571500" y="6429375"/>
            <a:ext cx="76200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 b="0" sz="1000">
              <a:solidFill>
                <a:srgbClr val="A0AE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3"/>
          <p:cNvSpPr txBox="1"/>
          <p:nvPr/>
        </p:nvSpPr>
        <p:spPr>
          <a:xfrm>
            <a:off x="10420350" y="6429375"/>
            <a:ext cx="1200300" cy="153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A0AEC0"/>
                </a:solidFill>
                <a:latin typeface="Calibri"/>
                <a:ea typeface="Calibri"/>
                <a:cs typeface="Calibri"/>
                <a:sym typeface="Calibri"/>
              </a:rPr>
              <a:t>13 / 14</a:t>
            </a:r>
            <a:endParaRPr b="0" sz="1000">
              <a:solidFill>
                <a:srgbClr val="A0AEC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4"/>
          <p:cNvSpPr txBox="1"/>
          <p:nvPr/>
        </p:nvSpPr>
        <p:spPr>
          <a:xfrm>
            <a:off x="600000" y="400000"/>
            <a:ext cx="120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2B6CB0"/>
                </a:solidFill>
                <a:latin typeface="Calibri"/>
                <a:ea typeface="Calibri"/>
                <a:cs typeface="Calibri"/>
                <a:sym typeface="Calibri"/>
              </a:rPr>
              <a:t>13 · Conclusiones</a:t>
            </a:r>
            <a:endParaRPr/>
          </a:p>
        </p:txBody>
      </p:sp>
      <p:sp>
        <p:nvSpPr>
          <p:cNvPr id="350" name="Google Shape;350;p14"/>
          <p:cNvSpPr txBox="1"/>
          <p:nvPr/>
        </p:nvSpPr>
        <p:spPr>
          <a:xfrm>
            <a:off x="600000" y="13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1. El problema requiere ML.</a:t>
            </a:r>
            <a:endParaRPr/>
          </a:p>
        </p:txBody>
      </p:sp>
      <p:sp>
        <p:nvSpPr>
          <p:cNvPr id="351" name="Google Shape;351;p14"/>
          <p:cNvSpPr txBox="1"/>
          <p:nvPr/>
        </p:nvSpPr>
        <p:spPr>
          <a:xfrm>
            <a:off x="900000" y="1750000"/>
            <a:ext cx="117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La regla a mano calibrada deja F1 0,386. Random Forest lo lleva a 0,586 en la misma prueba (+52 %).</a:t>
            </a:r>
            <a:endParaRPr/>
          </a:p>
        </p:txBody>
      </p:sp>
      <p:sp>
        <p:nvSpPr>
          <p:cNvPr id="352" name="Google Shape;352;p14"/>
          <p:cNvSpPr txBox="1"/>
          <p:nvPr/>
        </p:nvSpPr>
        <p:spPr>
          <a:xfrm>
            <a:off x="600000" y="24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2. El pre-vuelo basta para anticipar.</a:t>
            </a:r>
            <a:endParaRPr/>
          </a:p>
        </p:txBody>
      </p:sp>
      <p:sp>
        <p:nvSpPr>
          <p:cNvPr id="353" name="Google Shape;353;p14"/>
          <p:cNvSpPr txBox="1"/>
          <p:nvPr/>
        </p:nvSpPr>
        <p:spPr>
          <a:xfrm>
            <a:off x="900000" y="2850000"/>
            <a:ext cx="117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Solo con itinerario, calendario, congestión y rotación conocida: AUC 0,806 (vs 0,500 del azar).</a:t>
            </a:r>
            <a:endParaRPr/>
          </a:p>
        </p:txBody>
      </p:sp>
      <p:sp>
        <p:nvSpPr>
          <p:cNvPr id="354" name="Google Shape;354;p14"/>
          <p:cNvSpPr txBox="1"/>
          <p:nvPr/>
        </p:nvSpPr>
        <p:spPr>
          <a:xfrm>
            <a:off x="600000" y="35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3. El umbral importa tanto como el modelo.</a:t>
            </a:r>
            <a:endParaRPr/>
          </a:p>
        </p:txBody>
      </p:sp>
      <p:sp>
        <p:nvSpPr>
          <p:cNvPr id="355" name="Google Shape;355;p14"/>
          <p:cNvSpPr txBox="1"/>
          <p:nvPr/>
        </p:nvSpPr>
        <p:spPr>
          <a:xfrm>
            <a:off x="900000" y="3950000"/>
            <a:ext cx="117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0,333 (buscado en validación) captura el 52 % de los retrasos con precisión 67 %. El 0,50 por defecto baja F1 a casi 0.</a:t>
            </a:r>
            <a:endParaRPr/>
          </a:p>
        </p:txBody>
      </p:sp>
      <p:sp>
        <p:nvSpPr>
          <p:cNvPr id="356" name="Google Shape;356;p14"/>
          <p:cNvSpPr txBox="1"/>
          <p:nvPr/>
        </p:nvSpPr>
        <p:spPr>
          <a:xfrm>
            <a:off x="600000" y="46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4. La fuga se demuestra, no se asume.</a:t>
            </a:r>
            <a:endParaRPr/>
          </a:p>
        </p:txBody>
      </p:sp>
      <p:sp>
        <p:nvSpPr>
          <p:cNvPr id="357" name="Google Shape;357;p14"/>
          <p:cNvSpPr txBox="1"/>
          <p:nvPr/>
        </p:nvSpPr>
        <p:spPr>
          <a:xfrm>
            <a:off x="900000" y="5050000"/>
            <a:ext cx="117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Celda 4.4: AUC con y sin DEP_DELAY. El salto característico es la firma de la fuga.</a:t>
            </a:r>
            <a:endParaRPr/>
          </a:p>
        </p:txBody>
      </p:sp>
      <p:sp>
        <p:nvSpPr>
          <p:cNvPr id="358" name="Google Shape;358;p14"/>
          <p:cNvSpPr txBox="1"/>
          <p:nvPr/>
        </p:nvSpPr>
        <p:spPr>
          <a:xfrm>
            <a:off x="600000" y="5700000"/>
            <a:ext cx="12000000" cy="5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C05621"/>
                </a:solidFill>
                <a:latin typeface="Calibri"/>
                <a:ea typeface="Calibri"/>
                <a:cs typeface="Calibri"/>
                <a:sym typeface="Calibri"/>
              </a:rPr>
              <a:t>5. Elección por simplicidad.</a:t>
            </a:r>
            <a:endParaRPr/>
          </a:p>
        </p:txBody>
      </p:sp>
      <p:sp>
        <p:nvSpPr>
          <p:cNvPr id="359" name="Google Shape;359;p14"/>
          <p:cNvSpPr txBox="1"/>
          <p:nvPr/>
        </p:nvSpPr>
        <p:spPr>
          <a:xfrm>
            <a:off x="900000" y="6150000"/>
            <a:ext cx="11700000" cy="6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Random Forest gana el empate con HistGB y XGBoost por ser el más interpretable (importancias nativas).</a:t>
            </a:r>
            <a:endParaRPr/>
          </a:p>
        </p:txBody>
      </p:sp>
      <p:sp>
        <p:nvSpPr>
          <p:cNvPr id="360" name="Google Shape;360;p14"/>
          <p:cNvSpPr txBox="1"/>
          <p:nvPr/>
        </p:nvSpPr>
        <p:spPr>
          <a:xfrm>
            <a:off x="150725" y="6458000"/>
            <a:ext cx="99999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Proyecto final · Machine Learning · Universidad EIA</a:t>
            </a:r>
            <a:endParaRPr/>
          </a:p>
        </p:txBody>
      </p:sp>
      <p:sp>
        <p:nvSpPr>
          <p:cNvPr id="361" name="Google Shape;361;p14"/>
          <p:cNvSpPr txBox="1"/>
          <p:nvPr/>
        </p:nvSpPr>
        <p:spPr>
          <a:xfrm>
            <a:off x="11800000" y="6900000"/>
            <a:ext cx="12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14 / 14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